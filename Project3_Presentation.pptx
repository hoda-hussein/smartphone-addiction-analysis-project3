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9" r:id="rId3"/>
    <p:sldId id="257" r:id="rId4"/>
    <p:sldId id="258" r:id="rId5"/>
    <p:sldId id="259" r:id="rId6"/>
    <p:sldId id="260" r:id="rId7"/>
    <p:sldId id="261" r:id="rId8"/>
    <p:sldId id="262" r:id="rId9"/>
    <p:sldId id="265" r:id="rId10"/>
    <p:sldId id="266" r:id="rId11"/>
    <p:sldId id="267" r:id="rId12"/>
    <p:sldId id="268" r:id="rId13"/>
    <p:sldId id="263" r:id="rId14"/>
    <p:sldId id="264"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2430" autoAdjust="0"/>
  </p:normalViewPr>
  <p:slideViewPr>
    <p:cSldViewPr snapToGrid="0" snapToObjects="1">
      <p:cViewPr varScale="1">
        <p:scale>
          <a:sx n="99" d="100"/>
          <a:sy n="99" d="100"/>
        </p:scale>
        <p:origin x="99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1334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52E90-35FC-56B4-3BF8-C3DE0341FA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636503-A9C3-5023-D0F1-5978D05224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2BD272-2009-0AB4-FE73-017D5FE6E0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99E855-4509-05BB-BD9A-001263E0C61F}"/>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7816379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8C1C3-6EE4-8B2E-CE99-FA0BCFEDD9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2DB0C-40CF-28AB-75A6-3D6879FB0C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8684C6-C029-BBFF-CF4B-F8C16D4261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50DAB0-368D-0436-FE24-533674826FA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8398713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30746-41C3-B251-013B-C653D09BA6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9DC1C8-0636-7B57-7FF3-E1F79F62D1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F56031-E50C-5DB4-FBFA-1F1F6B2207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03A7F6-27C4-2736-55D3-F8EA40A7C4D7}"/>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67362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CE78F-C4B0-92F7-A8BC-888185A73B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222106-2E3E-DD0A-95F0-4179137C2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ECEEE9-9A25-06BE-8451-7FB56D366A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59969D-2AFD-7738-59D0-CADF9072CB89}"/>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515178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B4FBC-BE6C-EA51-AD52-5151E05AC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A7CCB3-1A03-8B87-F759-DF4F59F79A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3597E0-D62B-21CE-E8A0-2AE4E9BBE0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4B19BC-68A3-B671-5990-C97B7BF2B4A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1479300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1B998B"/>
          </a:solidFill>
          <a:ln w="12700">
            <a:solidFill>
              <a:srgbClr val="1B998B"/>
            </a:solidFill>
            <a:prstDash val="solid"/>
          </a:ln>
        </p:spPr>
      </p:sp>
      <p:sp>
        <p:nvSpPr>
          <p:cNvPr id="3" name="Shape 1"/>
          <p:cNvSpPr/>
          <p:nvPr/>
        </p:nvSpPr>
        <p:spPr>
          <a:xfrm>
            <a:off x="0" y="4389120"/>
            <a:ext cx="9144000" cy="754380"/>
          </a:xfrm>
          <a:prstGeom prst="rect">
            <a:avLst/>
          </a:prstGeom>
          <a:solidFill>
            <a:srgbClr val="0A1520"/>
          </a:solidFill>
          <a:ln w="12700">
            <a:solidFill>
              <a:srgbClr val="0A1520"/>
            </a:solidFill>
            <a:prstDash val="solid"/>
          </a:ln>
        </p:spPr>
      </p:sp>
      <p:sp>
        <p:nvSpPr>
          <p:cNvPr id="4" name="Text 2"/>
          <p:cNvSpPr/>
          <p:nvPr/>
        </p:nvSpPr>
        <p:spPr>
          <a:xfrm>
            <a:off x="731520" y="365760"/>
            <a:ext cx="8229600" cy="365760"/>
          </a:xfrm>
          <a:prstGeom prst="rect">
            <a:avLst/>
          </a:prstGeom>
          <a:noFill/>
          <a:ln/>
        </p:spPr>
        <p:txBody>
          <a:bodyPr wrap="square" lIns="0" tIns="0" rIns="0" bIns="0" rtlCol="0" anchor="ctr"/>
          <a:lstStyle/>
          <a:p>
            <a:pPr marL="0" indent="0">
              <a:buNone/>
            </a:pPr>
            <a:r>
              <a:rPr lang="en-US" sz="1300" dirty="0">
                <a:solidFill>
                  <a:srgbClr val="C8EFE9"/>
                </a:solidFill>
                <a:latin typeface="Calibri" pitchFamily="34" charset="0"/>
                <a:ea typeface="Calibri" pitchFamily="34" charset="-122"/>
                <a:cs typeface="Calibri" pitchFamily="34" charset="-120"/>
              </a:rPr>
              <a:t>C-DE211: Data Analysis | Project 3</a:t>
            </a:r>
            <a:endParaRPr lang="en-US" sz="1300" dirty="0"/>
          </a:p>
        </p:txBody>
      </p:sp>
      <p:sp>
        <p:nvSpPr>
          <p:cNvPr id="5" name="Text 3"/>
          <p:cNvSpPr/>
          <p:nvPr/>
        </p:nvSpPr>
        <p:spPr>
          <a:xfrm>
            <a:off x="731520" y="822960"/>
            <a:ext cx="7772400" cy="201168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Smartphone Usage</a:t>
            </a:r>
            <a:endParaRPr lang="en-US" sz="4400" dirty="0"/>
          </a:p>
          <a:p>
            <a:pPr marL="0" indent="0">
              <a:buNone/>
            </a:pPr>
            <a:r>
              <a:rPr lang="en-US" sz="4400" b="1" dirty="0">
                <a:solidFill>
                  <a:srgbClr val="FFFFFF"/>
                </a:solidFill>
                <a:latin typeface="Calibri" pitchFamily="34" charset="0"/>
                <a:ea typeface="Calibri" pitchFamily="34" charset="-122"/>
                <a:cs typeface="Calibri" pitchFamily="34" charset="-120"/>
              </a:rPr>
              <a:t>&amp; Addiction Analysis</a:t>
            </a:r>
            <a:endParaRPr lang="en-US" sz="4400" dirty="0"/>
          </a:p>
        </p:txBody>
      </p:sp>
      <p:sp>
        <p:nvSpPr>
          <p:cNvPr id="6" name="Text 4"/>
          <p:cNvSpPr/>
          <p:nvPr/>
        </p:nvSpPr>
        <p:spPr>
          <a:xfrm>
            <a:off x="731520" y="2834640"/>
            <a:ext cx="7315200" cy="640080"/>
          </a:xfrm>
          <a:prstGeom prst="rect">
            <a:avLst/>
          </a:prstGeom>
          <a:noFill/>
          <a:ln/>
        </p:spPr>
        <p:txBody>
          <a:bodyPr wrap="square" lIns="0" tIns="0" rIns="0" bIns="0" rtlCol="0" anchor="ctr"/>
          <a:lstStyle/>
          <a:p>
            <a:pPr marL="0" indent="0">
              <a:buNone/>
            </a:pPr>
            <a:r>
              <a:rPr lang="en-US" sz="1500" dirty="0">
                <a:solidFill>
                  <a:srgbClr val="C8EFE9"/>
                </a:solidFill>
                <a:latin typeface="Calibri" pitchFamily="34" charset="0"/>
                <a:ea typeface="Calibri" pitchFamily="34" charset="-122"/>
                <a:cs typeface="Calibri" pitchFamily="34" charset="-120"/>
              </a:rPr>
              <a:t>Analyzing behavioral &amp; demographic factors associated with smartphone dependency across 7,500 users</a:t>
            </a:r>
            <a:endParaRPr lang="en-US" sz="1500" dirty="0"/>
          </a:p>
        </p:txBody>
      </p:sp>
      <p:sp>
        <p:nvSpPr>
          <p:cNvPr id="7" name="Text 5"/>
          <p:cNvSpPr/>
          <p:nvPr/>
        </p:nvSpPr>
        <p:spPr>
          <a:xfrm>
            <a:off x="731520" y="4572000"/>
            <a:ext cx="8229600" cy="365760"/>
          </a:xfrm>
          <a:prstGeom prst="rect">
            <a:avLst/>
          </a:prstGeom>
          <a:noFill/>
          <a:ln/>
        </p:spPr>
        <p:txBody>
          <a:bodyPr wrap="square" lIns="0" tIns="0" rIns="0" bIns="0" rtlCol="0" anchor="ctr"/>
          <a:lstStyle/>
          <a:p>
            <a:pPr marL="0" indent="0">
              <a:buNone/>
            </a:pPr>
            <a:r>
              <a:rPr lang="en-US" sz="1100" dirty="0">
                <a:solidFill>
                  <a:srgbClr val="7A9BAD"/>
                </a:solidFill>
                <a:latin typeface="Calibri" pitchFamily="34" charset="0"/>
                <a:ea typeface="Calibri" pitchFamily="34" charset="-122"/>
                <a:cs typeface="Calibri" pitchFamily="34" charset="-120"/>
              </a:rPr>
              <a:t>Egypt University of Informatics  •  Faculty of Computing &amp; Information Sciences  •  May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a:extLst>
            <a:ext uri="{FF2B5EF4-FFF2-40B4-BE49-F238E27FC236}">
              <a16:creationId xmlns:a16="http://schemas.microsoft.com/office/drawing/2014/main" id="{4F2575E8-CE5F-B4A9-FBAC-8A02C7C8C56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60B31A7-5F8B-BE76-634D-D52BA3D214EA}"/>
              </a:ext>
            </a:extLst>
          </p:cNvPr>
          <p:cNvSpPr/>
          <p:nvPr/>
        </p:nvSpPr>
        <p:spPr>
          <a:xfrm>
            <a:off x="0" y="0"/>
            <a:ext cx="457200" cy="5143500"/>
          </a:xfrm>
          <a:prstGeom prst="rect">
            <a:avLst/>
          </a:prstGeom>
          <a:solidFill>
            <a:srgbClr val="1B998B"/>
          </a:solidFill>
          <a:ln w="12700">
            <a:solidFill>
              <a:srgbClr val="1B998B"/>
            </a:solidFill>
            <a:prstDash val="solid"/>
          </a:ln>
        </p:spPr>
      </p:sp>
      <p:sp>
        <p:nvSpPr>
          <p:cNvPr id="3" name="Shape 1">
            <a:extLst>
              <a:ext uri="{FF2B5EF4-FFF2-40B4-BE49-F238E27FC236}">
                <a16:creationId xmlns:a16="http://schemas.microsoft.com/office/drawing/2014/main" id="{E4381B92-677B-E4CE-4EC3-2B255F7863D6}"/>
              </a:ext>
            </a:extLst>
          </p:cNvPr>
          <p:cNvSpPr/>
          <p:nvPr/>
        </p:nvSpPr>
        <p:spPr>
          <a:xfrm>
            <a:off x="0" y="4389120"/>
            <a:ext cx="9144000" cy="754380"/>
          </a:xfrm>
          <a:prstGeom prst="rect">
            <a:avLst/>
          </a:prstGeom>
          <a:solidFill>
            <a:srgbClr val="0A1520"/>
          </a:solidFill>
          <a:ln w="12700">
            <a:solidFill>
              <a:srgbClr val="0A1520"/>
            </a:solidFill>
            <a:prstDash val="solid"/>
          </a:ln>
        </p:spPr>
      </p:sp>
      <p:sp>
        <p:nvSpPr>
          <p:cNvPr id="4" name="Text 2">
            <a:extLst>
              <a:ext uri="{FF2B5EF4-FFF2-40B4-BE49-F238E27FC236}">
                <a16:creationId xmlns:a16="http://schemas.microsoft.com/office/drawing/2014/main" id="{542A7019-C876-2813-1ED0-0B690AFF46CC}"/>
              </a:ext>
            </a:extLst>
          </p:cNvPr>
          <p:cNvSpPr/>
          <p:nvPr/>
        </p:nvSpPr>
        <p:spPr>
          <a:xfrm>
            <a:off x="731520" y="365760"/>
            <a:ext cx="8229600" cy="365760"/>
          </a:xfrm>
          <a:prstGeom prst="rect">
            <a:avLst/>
          </a:prstGeom>
          <a:noFill/>
          <a:ln/>
        </p:spPr>
        <p:txBody>
          <a:bodyPr wrap="square" lIns="0" tIns="0" rIns="0" bIns="0" rtlCol="0" anchor="ctr"/>
          <a:lstStyle/>
          <a:p>
            <a:pPr marL="0" indent="0">
              <a:buNone/>
            </a:pPr>
            <a:r>
              <a:rPr lang="en-US" sz="1300" dirty="0">
                <a:solidFill>
                  <a:srgbClr val="C8EFE9"/>
                </a:solidFill>
                <a:latin typeface="Calibri" pitchFamily="34" charset="0"/>
                <a:ea typeface="Calibri" pitchFamily="34" charset="-122"/>
                <a:cs typeface="Calibri" pitchFamily="34" charset="-120"/>
              </a:rPr>
              <a:t>C-DE211: Data Analysis | Project 3</a:t>
            </a:r>
            <a:endParaRPr lang="en-US" sz="1300" dirty="0"/>
          </a:p>
        </p:txBody>
      </p:sp>
      <p:sp>
        <p:nvSpPr>
          <p:cNvPr id="5" name="Text 3">
            <a:extLst>
              <a:ext uri="{FF2B5EF4-FFF2-40B4-BE49-F238E27FC236}">
                <a16:creationId xmlns:a16="http://schemas.microsoft.com/office/drawing/2014/main" id="{0341B87D-1303-8B07-101D-8C9A805B4CC4}"/>
              </a:ext>
            </a:extLst>
          </p:cNvPr>
          <p:cNvSpPr/>
          <p:nvPr/>
        </p:nvSpPr>
        <p:spPr>
          <a:xfrm>
            <a:off x="3502977" y="435853"/>
            <a:ext cx="3018949" cy="962978"/>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TEAM MEMBERS:</a:t>
            </a:r>
            <a:endParaRPr lang="en-US" sz="2400" dirty="0"/>
          </a:p>
        </p:txBody>
      </p:sp>
      <p:sp>
        <p:nvSpPr>
          <p:cNvPr id="7" name="Text 5">
            <a:extLst>
              <a:ext uri="{FF2B5EF4-FFF2-40B4-BE49-F238E27FC236}">
                <a16:creationId xmlns:a16="http://schemas.microsoft.com/office/drawing/2014/main" id="{B5BADABC-38F1-411D-0013-E4020BA9403F}"/>
              </a:ext>
            </a:extLst>
          </p:cNvPr>
          <p:cNvSpPr/>
          <p:nvPr/>
        </p:nvSpPr>
        <p:spPr>
          <a:xfrm>
            <a:off x="731520" y="4572000"/>
            <a:ext cx="8229600" cy="365760"/>
          </a:xfrm>
          <a:prstGeom prst="rect">
            <a:avLst/>
          </a:prstGeom>
          <a:noFill/>
          <a:ln/>
        </p:spPr>
        <p:txBody>
          <a:bodyPr wrap="square" lIns="0" tIns="0" rIns="0" bIns="0" rtlCol="0" anchor="ctr"/>
          <a:lstStyle/>
          <a:p>
            <a:pPr marL="0" indent="0">
              <a:buNone/>
            </a:pPr>
            <a:r>
              <a:rPr lang="en-US" sz="1100" dirty="0">
                <a:solidFill>
                  <a:srgbClr val="7A9BAD"/>
                </a:solidFill>
                <a:latin typeface="Calibri" pitchFamily="34" charset="0"/>
                <a:ea typeface="Calibri" pitchFamily="34" charset="-122"/>
                <a:cs typeface="Calibri" pitchFamily="34" charset="-120"/>
              </a:rPr>
              <a:t>Egypt University of Informatics  •  Faculty of Computing &amp; Information Sciences  •  May 2026</a:t>
            </a:r>
            <a:endParaRPr lang="en-US" sz="1100" dirty="0"/>
          </a:p>
        </p:txBody>
      </p:sp>
      <p:graphicFrame>
        <p:nvGraphicFramePr>
          <p:cNvPr id="12" name="Table 11">
            <a:extLst>
              <a:ext uri="{FF2B5EF4-FFF2-40B4-BE49-F238E27FC236}">
                <a16:creationId xmlns:a16="http://schemas.microsoft.com/office/drawing/2014/main" id="{C5DB2D3D-689E-AF06-1E4D-AACDC095B088}"/>
              </a:ext>
            </a:extLst>
          </p:cNvPr>
          <p:cNvGraphicFramePr>
            <a:graphicFrameLocks noGrp="1"/>
          </p:cNvGraphicFramePr>
          <p:nvPr>
            <p:extLst>
              <p:ext uri="{D42A27DB-BD31-4B8C-83A1-F6EECF244321}">
                <p14:modId xmlns:p14="http://schemas.microsoft.com/office/powerpoint/2010/main" val="429162142"/>
              </p:ext>
            </p:extLst>
          </p:nvPr>
        </p:nvGraphicFramePr>
        <p:xfrm>
          <a:off x="2545229" y="1198007"/>
          <a:ext cx="4312770" cy="2747486"/>
        </p:xfrm>
        <a:graphic>
          <a:graphicData uri="http://schemas.openxmlformats.org/drawingml/2006/table">
            <a:tbl>
              <a:tblPr rtl="1" firstRow="1" bandRow="1">
                <a:tableStyleId>{073A0DAA-6AF3-43AB-8588-CEC1D06C72B9}</a:tableStyleId>
              </a:tblPr>
              <a:tblGrid>
                <a:gridCol w="2156385">
                  <a:extLst>
                    <a:ext uri="{9D8B030D-6E8A-4147-A177-3AD203B41FA5}">
                      <a16:colId xmlns:a16="http://schemas.microsoft.com/office/drawing/2014/main" val="3368379644"/>
                    </a:ext>
                  </a:extLst>
                </a:gridCol>
                <a:gridCol w="2156385">
                  <a:extLst>
                    <a:ext uri="{9D8B030D-6E8A-4147-A177-3AD203B41FA5}">
                      <a16:colId xmlns:a16="http://schemas.microsoft.com/office/drawing/2014/main" val="3756483580"/>
                    </a:ext>
                  </a:extLst>
                </a:gridCol>
              </a:tblGrid>
              <a:tr h="463202">
                <a:tc>
                  <a:txBody>
                    <a:bodyPr/>
                    <a:lstStyle/>
                    <a:p>
                      <a:pPr algn="ctr" rtl="1"/>
                      <a:r>
                        <a:rPr lang="en-US" sz="1200" dirty="0"/>
                        <a:t>ID</a:t>
                      </a:r>
                      <a:endParaRPr lang="ar-EG" sz="1200" dirty="0"/>
                    </a:p>
                  </a:txBody>
                  <a:tcPr/>
                </a:tc>
                <a:tc>
                  <a:txBody>
                    <a:bodyPr/>
                    <a:lstStyle/>
                    <a:p>
                      <a:pPr algn="ctr" rtl="1"/>
                      <a:r>
                        <a:rPr lang="en-US" sz="1200" dirty="0"/>
                        <a:t>NAME</a:t>
                      </a:r>
                      <a:endParaRPr lang="ar-EG" sz="1200" dirty="0"/>
                    </a:p>
                  </a:txBody>
                  <a:tcPr/>
                </a:tc>
                <a:extLst>
                  <a:ext uri="{0D108BD9-81ED-4DB2-BD59-A6C34878D82A}">
                    <a16:rowId xmlns:a16="http://schemas.microsoft.com/office/drawing/2014/main" val="3807178886"/>
                  </a:ext>
                </a:extLst>
              </a:tr>
              <a:tr h="571071">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200" b="1" dirty="0"/>
                        <a:t>24-101118</a:t>
                      </a:r>
                      <a:endParaRPr lang="ar-EG" sz="1200" dirty="0"/>
                    </a:p>
                    <a:p>
                      <a:pPr algn="ctr" rtl="1"/>
                      <a:endParaRPr lang="ar-EG" sz="1200" dirty="0"/>
                    </a:p>
                  </a:txBody>
                  <a:tcPr/>
                </a:tc>
                <a:tc>
                  <a:txBody>
                    <a:bodyPr/>
                    <a:lstStyle/>
                    <a:p>
                      <a:pPr algn="ctr" rtl="1" fontAlgn="t"/>
                      <a:r>
                        <a:rPr lang="en-US" sz="1200" b="1" dirty="0"/>
                        <a:t>Aamena Ahmed</a:t>
                      </a:r>
                      <a:r>
                        <a:rPr lang="en-US" sz="1200" dirty="0"/>
                        <a:t> </a:t>
                      </a:r>
                    </a:p>
                  </a:txBody>
                  <a:tcPr/>
                </a:tc>
                <a:extLst>
                  <a:ext uri="{0D108BD9-81ED-4DB2-BD59-A6C34878D82A}">
                    <a16:rowId xmlns:a16="http://schemas.microsoft.com/office/drawing/2014/main" val="3776912151"/>
                  </a:ext>
                </a:extLst>
              </a:tr>
              <a:tr h="571071">
                <a:tc>
                  <a:txBody>
                    <a:bodyPr/>
                    <a:lstStyle/>
                    <a:p>
                      <a:pPr algn="ctr" rtl="1"/>
                      <a:r>
                        <a:rPr lang="en-US" sz="1200" b="1" dirty="0"/>
                        <a:t>24-101123</a:t>
                      </a:r>
                      <a:endParaRPr lang="ar-EG" sz="1200" b="1" dirty="0"/>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200" b="1" dirty="0"/>
                        <a:t>Mariam Mohamed</a:t>
                      </a:r>
                      <a:r>
                        <a:rPr lang="ar-EG" sz="1200" b="1" dirty="0"/>
                        <a:t> </a:t>
                      </a:r>
                      <a:endParaRPr lang="ar-EG" sz="1200" dirty="0"/>
                    </a:p>
                    <a:p>
                      <a:pPr algn="ctr" rtl="1"/>
                      <a:endParaRPr lang="ar-EG" sz="1200" dirty="0"/>
                    </a:p>
                  </a:txBody>
                  <a:tcPr/>
                </a:tc>
                <a:extLst>
                  <a:ext uri="{0D108BD9-81ED-4DB2-BD59-A6C34878D82A}">
                    <a16:rowId xmlns:a16="http://schemas.microsoft.com/office/drawing/2014/main" val="1733209216"/>
                  </a:ext>
                </a:extLst>
              </a:tr>
              <a:tr h="571071">
                <a:tc>
                  <a:txBody>
                    <a:bodyPr/>
                    <a:lstStyle/>
                    <a:p>
                      <a:pPr algn="ctr" rtl="1"/>
                      <a:r>
                        <a:rPr lang="en-US" sz="1200" b="1" dirty="0"/>
                        <a:t>24-101367</a:t>
                      </a:r>
                      <a:endParaRPr lang="ar-EG" sz="1200" dirty="0"/>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200" b="1" dirty="0"/>
                        <a:t>Jomana Soliman</a:t>
                      </a:r>
                      <a:endParaRPr lang="ar-EG" sz="1200" dirty="0"/>
                    </a:p>
                    <a:p>
                      <a:pPr algn="ctr" rtl="1"/>
                      <a:endParaRPr lang="ar-EG" sz="1200" dirty="0"/>
                    </a:p>
                  </a:txBody>
                  <a:tcPr/>
                </a:tc>
                <a:extLst>
                  <a:ext uri="{0D108BD9-81ED-4DB2-BD59-A6C34878D82A}">
                    <a16:rowId xmlns:a16="http://schemas.microsoft.com/office/drawing/2014/main" val="154407541"/>
                  </a:ext>
                </a:extLst>
              </a:tr>
              <a:tr h="571071">
                <a:tc>
                  <a:txBody>
                    <a:bodyPr/>
                    <a:lstStyle/>
                    <a:p>
                      <a:pPr algn="ctr" rtl="1"/>
                      <a:r>
                        <a:rPr lang="en-US" sz="1200" b="1" dirty="0"/>
                        <a:t>24-101399</a:t>
                      </a:r>
                      <a:endParaRPr lang="ar-EG" sz="1200" dirty="0"/>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en-US" sz="1200" b="1" dirty="0"/>
                        <a:t>Hoda Hussein</a:t>
                      </a:r>
                      <a:endParaRPr lang="ar-EG" sz="1200" dirty="0"/>
                    </a:p>
                    <a:p>
                      <a:pPr algn="ctr" rtl="1"/>
                      <a:endParaRPr lang="ar-EG" sz="1200" dirty="0"/>
                    </a:p>
                  </a:txBody>
                  <a:tcPr/>
                </a:tc>
                <a:extLst>
                  <a:ext uri="{0D108BD9-81ED-4DB2-BD59-A6C34878D82A}">
                    <a16:rowId xmlns:a16="http://schemas.microsoft.com/office/drawing/2014/main" val="569888579"/>
                  </a:ext>
                </a:extLst>
              </a:tr>
            </a:tbl>
          </a:graphicData>
        </a:graphic>
      </p:graphicFrame>
    </p:spTree>
    <p:extLst>
      <p:ext uri="{BB962C8B-B14F-4D97-AF65-F5344CB8AC3E}">
        <p14:creationId xmlns:p14="http://schemas.microsoft.com/office/powerpoint/2010/main" val="94642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A"/>
          </a:solidFill>
          <a:ln w="12700">
            <a:solidFill>
              <a:srgbClr val="0D1B2A"/>
            </a:solidFill>
            <a:prstDash val="solid"/>
          </a:ln>
        </p:spPr>
      </p:sp>
      <p:sp>
        <p:nvSpPr>
          <p:cNvPr id="3" name="Text 1"/>
          <p:cNvSpPr/>
          <p:nvPr/>
        </p:nvSpPr>
        <p:spPr>
          <a:xfrm>
            <a:off x="457200" y="18288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Agenda</a:t>
            </a:r>
            <a:endParaRPr lang="en-US" sz="2800" dirty="0"/>
          </a:p>
        </p:txBody>
      </p:sp>
      <p:sp>
        <p:nvSpPr>
          <p:cNvPr id="4" name="Shape 2"/>
          <p:cNvSpPr/>
          <p:nvPr/>
        </p:nvSpPr>
        <p:spPr>
          <a:xfrm>
            <a:off x="457200" y="1280160"/>
            <a:ext cx="4023360" cy="822960"/>
          </a:xfrm>
          <a:prstGeom prst="rect">
            <a:avLst/>
          </a:prstGeom>
          <a:solidFill>
            <a:srgbClr val="F0F8F7"/>
          </a:solidFill>
          <a:ln w="12700">
            <a:solidFill>
              <a:srgbClr val="C8EFE9"/>
            </a:solidFill>
            <a:prstDash val="solid"/>
          </a:ln>
          <a:effectLst>
            <a:outerShdw blurRad="101600" dist="38100" dir="8100000" algn="bl" rotWithShape="0">
              <a:srgbClr val="000000">
                <a:alpha val="12000"/>
              </a:srgbClr>
            </a:outerShdw>
          </a:effectLst>
        </p:spPr>
      </p:sp>
      <p:sp>
        <p:nvSpPr>
          <p:cNvPr id="5" name="Shape 3"/>
          <p:cNvSpPr/>
          <p:nvPr/>
        </p:nvSpPr>
        <p:spPr>
          <a:xfrm>
            <a:off x="457200" y="1280160"/>
            <a:ext cx="457200" cy="822960"/>
          </a:xfrm>
          <a:prstGeom prst="rect">
            <a:avLst/>
          </a:prstGeom>
          <a:solidFill>
            <a:srgbClr val="1B998B"/>
          </a:solidFill>
          <a:ln w="12700">
            <a:solidFill>
              <a:srgbClr val="1B998B"/>
            </a:solidFill>
            <a:prstDash val="solid"/>
          </a:ln>
        </p:spPr>
      </p:sp>
      <p:sp>
        <p:nvSpPr>
          <p:cNvPr id="6" name="Text 4"/>
          <p:cNvSpPr/>
          <p:nvPr/>
        </p:nvSpPr>
        <p:spPr>
          <a:xfrm>
            <a:off x="457200" y="1280160"/>
            <a:ext cx="45720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7" name="Text 5"/>
          <p:cNvSpPr/>
          <p:nvPr/>
        </p:nvSpPr>
        <p:spPr>
          <a:xfrm>
            <a:off x="1005840" y="1280160"/>
            <a:ext cx="3383280" cy="822960"/>
          </a:xfrm>
          <a:prstGeom prst="rect">
            <a:avLst/>
          </a:prstGeom>
          <a:noFill/>
          <a:ln/>
        </p:spPr>
        <p:txBody>
          <a:bodyPr wrap="square" lIns="0" tIns="0" rIns="0" bIns="0" rtlCol="0" anchor="ctr"/>
          <a:lstStyle/>
          <a:p>
            <a:pPr marL="0" indent="0">
              <a:buNone/>
            </a:pPr>
            <a:r>
              <a:rPr lang="en-US" sz="1400" dirty="0">
                <a:solidFill>
                  <a:srgbClr val="0D1B2A"/>
                </a:solidFill>
                <a:latin typeface="Calibri" pitchFamily="34" charset="0"/>
                <a:ea typeface="Calibri" pitchFamily="34" charset="-122"/>
                <a:cs typeface="Calibri" pitchFamily="34" charset="-120"/>
              </a:rPr>
              <a:t>Introduction &amp; Research Question</a:t>
            </a:r>
            <a:endParaRPr lang="en-US" sz="1400" dirty="0"/>
          </a:p>
        </p:txBody>
      </p:sp>
      <p:sp>
        <p:nvSpPr>
          <p:cNvPr id="8" name="Shape 6"/>
          <p:cNvSpPr/>
          <p:nvPr/>
        </p:nvSpPr>
        <p:spPr>
          <a:xfrm>
            <a:off x="4754880" y="1280160"/>
            <a:ext cx="4023360" cy="822960"/>
          </a:xfrm>
          <a:prstGeom prst="rect">
            <a:avLst/>
          </a:prstGeom>
          <a:solidFill>
            <a:srgbClr val="F0F8F7"/>
          </a:solidFill>
          <a:ln w="12700">
            <a:solidFill>
              <a:srgbClr val="C8EFE9"/>
            </a:solidFill>
            <a:prstDash val="solid"/>
          </a:ln>
          <a:effectLst>
            <a:outerShdw blurRad="101600" dist="38100" dir="8100000" algn="bl" rotWithShape="0">
              <a:srgbClr val="000000">
                <a:alpha val="12000"/>
              </a:srgbClr>
            </a:outerShdw>
          </a:effectLst>
        </p:spPr>
      </p:sp>
      <p:sp>
        <p:nvSpPr>
          <p:cNvPr id="9" name="Shape 7"/>
          <p:cNvSpPr/>
          <p:nvPr/>
        </p:nvSpPr>
        <p:spPr>
          <a:xfrm>
            <a:off x="4754880" y="1280160"/>
            <a:ext cx="457200" cy="822960"/>
          </a:xfrm>
          <a:prstGeom prst="rect">
            <a:avLst/>
          </a:prstGeom>
          <a:solidFill>
            <a:srgbClr val="1B998B"/>
          </a:solidFill>
          <a:ln w="12700">
            <a:solidFill>
              <a:srgbClr val="1B998B"/>
            </a:solidFill>
            <a:prstDash val="solid"/>
          </a:ln>
        </p:spPr>
      </p:sp>
      <p:sp>
        <p:nvSpPr>
          <p:cNvPr id="10" name="Text 8"/>
          <p:cNvSpPr/>
          <p:nvPr/>
        </p:nvSpPr>
        <p:spPr>
          <a:xfrm>
            <a:off x="4754880" y="1280160"/>
            <a:ext cx="45720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1" name="Text 9"/>
          <p:cNvSpPr/>
          <p:nvPr/>
        </p:nvSpPr>
        <p:spPr>
          <a:xfrm>
            <a:off x="5303520" y="1280160"/>
            <a:ext cx="3383280" cy="822960"/>
          </a:xfrm>
          <a:prstGeom prst="rect">
            <a:avLst/>
          </a:prstGeom>
          <a:noFill/>
          <a:ln/>
        </p:spPr>
        <p:txBody>
          <a:bodyPr wrap="square" lIns="0" tIns="0" rIns="0" bIns="0" rtlCol="0" anchor="ctr"/>
          <a:lstStyle/>
          <a:p>
            <a:pPr marL="0" indent="0">
              <a:buNone/>
            </a:pPr>
            <a:r>
              <a:rPr lang="en-US" sz="1400" dirty="0">
                <a:solidFill>
                  <a:srgbClr val="0D1B2A"/>
                </a:solidFill>
                <a:latin typeface="Calibri" pitchFamily="34" charset="0"/>
                <a:ea typeface="Calibri" pitchFamily="34" charset="-122"/>
                <a:cs typeface="Calibri" pitchFamily="34" charset="-120"/>
              </a:rPr>
              <a:t>Dataset &amp; Methodology</a:t>
            </a:r>
            <a:endParaRPr lang="en-US" sz="1400" dirty="0"/>
          </a:p>
        </p:txBody>
      </p:sp>
      <p:sp>
        <p:nvSpPr>
          <p:cNvPr id="12" name="Shape 10"/>
          <p:cNvSpPr/>
          <p:nvPr/>
        </p:nvSpPr>
        <p:spPr>
          <a:xfrm>
            <a:off x="457200" y="2377440"/>
            <a:ext cx="4023360" cy="822960"/>
          </a:xfrm>
          <a:prstGeom prst="rect">
            <a:avLst/>
          </a:prstGeom>
          <a:solidFill>
            <a:srgbClr val="F0F8F7"/>
          </a:solidFill>
          <a:ln w="12700">
            <a:solidFill>
              <a:srgbClr val="C8EFE9"/>
            </a:solidFill>
            <a:prstDash val="solid"/>
          </a:ln>
          <a:effectLst>
            <a:outerShdw blurRad="101600" dist="38100" dir="8100000" algn="bl" rotWithShape="0">
              <a:srgbClr val="000000">
                <a:alpha val="12000"/>
              </a:srgbClr>
            </a:outerShdw>
          </a:effectLst>
        </p:spPr>
      </p:sp>
      <p:sp>
        <p:nvSpPr>
          <p:cNvPr id="13" name="Shape 11"/>
          <p:cNvSpPr/>
          <p:nvPr/>
        </p:nvSpPr>
        <p:spPr>
          <a:xfrm>
            <a:off x="457200" y="2377440"/>
            <a:ext cx="457200" cy="822960"/>
          </a:xfrm>
          <a:prstGeom prst="rect">
            <a:avLst/>
          </a:prstGeom>
          <a:solidFill>
            <a:srgbClr val="1B998B"/>
          </a:solidFill>
          <a:ln w="12700">
            <a:solidFill>
              <a:srgbClr val="1B998B"/>
            </a:solidFill>
            <a:prstDash val="solid"/>
          </a:ln>
        </p:spPr>
      </p:sp>
      <p:sp>
        <p:nvSpPr>
          <p:cNvPr id="14" name="Text 12"/>
          <p:cNvSpPr/>
          <p:nvPr/>
        </p:nvSpPr>
        <p:spPr>
          <a:xfrm>
            <a:off x="457200" y="2377440"/>
            <a:ext cx="45720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5" name="Text 13"/>
          <p:cNvSpPr/>
          <p:nvPr/>
        </p:nvSpPr>
        <p:spPr>
          <a:xfrm>
            <a:off x="1005840" y="2377440"/>
            <a:ext cx="3383280" cy="822960"/>
          </a:xfrm>
          <a:prstGeom prst="rect">
            <a:avLst/>
          </a:prstGeom>
          <a:noFill/>
          <a:ln/>
        </p:spPr>
        <p:txBody>
          <a:bodyPr wrap="square" lIns="0" tIns="0" rIns="0" bIns="0" rtlCol="0" anchor="ctr"/>
          <a:lstStyle/>
          <a:p>
            <a:pPr marL="0" indent="0">
              <a:buNone/>
            </a:pPr>
            <a:r>
              <a:rPr lang="en-US" sz="1400" dirty="0">
                <a:solidFill>
                  <a:srgbClr val="0D1B2A"/>
                </a:solidFill>
                <a:latin typeface="Calibri" pitchFamily="34" charset="0"/>
                <a:ea typeface="Calibri" pitchFamily="34" charset="-122"/>
                <a:cs typeface="Calibri" pitchFamily="34" charset="-120"/>
              </a:rPr>
              <a:t>EDA &amp; Visualizations</a:t>
            </a:r>
            <a:endParaRPr lang="en-US" sz="1400" dirty="0"/>
          </a:p>
        </p:txBody>
      </p:sp>
      <p:sp>
        <p:nvSpPr>
          <p:cNvPr id="16" name="Shape 14"/>
          <p:cNvSpPr/>
          <p:nvPr/>
        </p:nvSpPr>
        <p:spPr>
          <a:xfrm>
            <a:off x="4754880" y="2377440"/>
            <a:ext cx="4023360" cy="822960"/>
          </a:xfrm>
          <a:prstGeom prst="rect">
            <a:avLst/>
          </a:prstGeom>
          <a:solidFill>
            <a:srgbClr val="F0F8F7"/>
          </a:solidFill>
          <a:ln w="12700">
            <a:solidFill>
              <a:srgbClr val="C8EFE9"/>
            </a:solidFill>
            <a:prstDash val="solid"/>
          </a:ln>
          <a:effectLst>
            <a:outerShdw blurRad="101600" dist="38100" dir="8100000" algn="bl" rotWithShape="0">
              <a:srgbClr val="000000">
                <a:alpha val="12000"/>
              </a:srgbClr>
            </a:outerShdw>
          </a:effectLst>
        </p:spPr>
      </p:sp>
      <p:sp>
        <p:nvSpPr>
          <p:cNvPr id="17" name="Shape 15"/>
          <p:cNvSpPr/>
          <p:nvPr/>
        </p:nvSpPr>
        <p:spPr>
          <a:xfrm>
            <a:off x="4754880" y="2377440"/>
            <a:ext cx="457200" cy="822960"/>
          </a:xfrm>
          <a:prstGeom prst="rect">
            <a:avLst/>
          </a:prstGeom>
          <a:solidFill>
            <a:srgbClr val="1B998B"/>
          </a:solidFill>
          <a:ln w="12700">
            <a:solidFill>
              <a:srgbClr val="1B998B"/>
            </a:solidFill>
            <a:prstDash val="solid"/>
          </a:ln>
        </p:spPr>
      </p:sp>
      <p:sp>
        <p:nvSpPr>
          <p:cNvPr id="18" name="Text 16"/>
          <p:cNvSpPr/>
          <p:nvPr/>
        </p:nvSpPr>
        <p:spPr>
          <a:xfrm>
            <a:off x="4754880" y="2377440"/>
            <a:ext cx="45720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19" name="Text 17"/>
          <p:cNvSpPr/>
          <p:nvPr/>
        </p:nvSpPr>
        <p:spPr>
          <a:xfrm>
            <a:off x="5303520" y="2377440"/>
            <a:ext cx="3383280" cy="822960"/>
          </a:xfrm>
          <a:prstGeom prst="rect">
            <a:avLst/>
          </a:prstGeom>
          <a:noFill/>
          <a:ln/>
        </p:spPr>
        <p:txBody>
          <a:bodyPr wrap="square" lIns="0" tIns="0" rIns="0" bIns="0" rtlCol="0" anchor="ctr"/>
          <a:lstStyle/>
          <a:p>
            <a:pPr marL="0" indent="0">
              <a:buNone/>
            </a:pPr>
            <a:r>
              <a:rPr lang="en-US" sz="1400" dirty="0">
                <a:solidFill>
                  <a:srgbClr val="0D1B2A"/>
                </a:solidFill>
                <a:latin typeface="Calibri" pitchFamily="34" charset="0"/>
                <a:ea typeface="Calibri" pitchFamily="34" charset="-122"/>
                <a:cs typeface="Calibri" pitchFamily="34" charset="-120"/>
              </a:rPr>
              <a:t>Hypothesis Testing Results</a:t>
            </a:r>
            <a:endParaRPr lang="en-US" sz="1400" dirty="0"/>
          </a:p>
        </p:txBody>
      </p:sp>
      <p:sp>
        <p:nvSpPr>
          <p:cNvPr id="20" name="Shape 18"/>
          <p:cNvSpPr/>
          <p:nvPr/>
        </p:nvSpPr>
        <p:spPr>
          <a:xfrm>
            <a:off x="457200" y="3474720"/>
            <a:ext cx="4023360" cy="822960"/>
          </a:xfrm>
          <a:prstGeom prst="rect">
            <a:avLst/>
          </a:prstGeom>
          <a:solidFill>
            <a:srgbClr val="F0F8F7"/>
          </a:solidFill>
          <a:ln w="12700">
            <a:solidFill>
              <a:srgbClr val="C8EFE9"/>
            </a:solidFill>
            <a:prstDash val="solid"/>
          </a:ln>
          <a:effectLst>
            <a:outerShdw blurRad="101600" dist="38100" dir="8100000" algn="bl" rotWithShape="0">
              <a:srgbClr val="000000">
                <a:alpha val="12000"/>
              </a:srgbClr>
            </a:outerShdw>
          </a:effectLst>
        </p:spPr>
      </p:sp>
      <p:sp>
        <p:nvSpPr>
          <p:cNvPr id="21" name="Shape 19"/>
          <p:cNvSpPr/>
          <p:nvPr/>
        </p:nvSpPr>
        <p:spPr>
          <a:xfrm>
            <a:off x="457200" y="3474720"/>
            <a:ext cx="457200" cy="822960"/>
          </a:xfrm>
          <a:prstGeom prst="rect">
            <a:avLst/>
          </a:prstGeom>
          <a:solidFill>
            <a:srgbClr val="1B998B"/>
          </a:solidFill>
          <a:ln w="12700">
            <a:solidFill>
              <a:srgbClr val="1B998B"/>
            </a:solidFill>
            <a:prstDash val="solid"/>
          </a:ln>
        </p:spPr>
      </p:sp>
      <p:sp>
        <p:nvSpPr>
          <p:cNvPr id="22" name="Text 20"/>
          <p:cNvSpPr/>
          <p:nvPr/>
        </p:nvSpPr>
        <p:spPr>
          <a:xfrm>
            <a:off x="457200" y="3474720"/>
            <a:ext cx="457200" cy="82296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23" name="Text 21"/>
          <p:cNvSpPr/>
          <p:nvPr/>
        </p:nvSpPr>
        <p:spPr>
          <a:xfrm>
            <a:off x="1005840" y="3474720"/>
            <a:ext cx="3383280" cy="822960"/>
          </a:xfrm>
          <a:prstGeom prst="rect">
            <a:avLst/>
          </a:prstGeom>
          <a:noFill/>
          <a:ln/>
        </p:spPr>
        <p:txBody>
          <a:bodyPr wrap="square" lIns="0" tIns="0" rIns="0" bIns="0" rtlCol="0" anchor="ctr"/>
          <a:lstStyle/>
          <a:p>
            <a:pPr marL="0" indent="0">
              <a:buNone/>
            </a:pPr>
            <a:r>
              <a:rPr lang="en-US" sz="1400" dirty="0">
                <a:solidFill>
                  <a:srgbClr val="0D1B2A"/>
                </a:solidFill>
                <a:latin typeface="Calibri" pitchFamily="34" charset="0"/>
                <a:ea typeface="Calibri" pitchFamily="34" charset="-122"/>
                <a:cs typeface="Calibri" pitchFamily="34" charset="-120"/>
              </a:rPr>
              <a:t>Conclusion &amp; Limitations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A"/>
          </a:solidFill>
          <a:ln w="12700">
            <a:solidFill>
              <a:srgbClr val="0D1B2A"/>
            </a:solidFill>
            <a:prstDash val="solid"/>
          </a:ln>
        </p:spPr>
      </p:sp>
      <p:sp>
        <p:nvSpPr>
          <p:cNvPr id="3" name="Text 1"/>
          <p:cNvSpPr/>
          <p:nvPr/>
        </p:nvSpPr>
        <p:spPr>
          <a:xfrm>
            <a:off x="457200" y="18288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01  Introduction</a:t>
            </a:r>
            <a:endParaRPr lang="en-US" sz="2800" dirty="0"/>
          </a:p>
        </p:txBody>
      </p:sp>
      <p:sp>
        <p:nvSpPr>
          <p:cNvPr id="4" name="Shape 2"/>
          <p:cNvSpPr/>
          <p:nvPr/>
        </p:nvSpPr>
        <p:spPr>
          <a:xfrm>
            <a:off x="457200" y="1188720"/>
            <a:ext cx="3840480" cy="3474720"/>
          </a:xfrm>
          <a:prstGeom prst="rect">
            <a:avLst/>
          </a:prstGeom>
          <a:solidFill>
            <a:srgbClr val="F0F8F7"/>
          </a:solidFill>
          <a:ln w="12700">
            <a:solidFill>
              <a:srgbClr val="C8EFE9"/>
            </a:solidFill>
            <a:prstDash val="solid"/>
          </a:ln>
          <a:effectLst>
            <a:outerShdw blurRad="101600" dist="38100" dir="8100000" algn="bl" rotWithShape="0">
              <a:srgbClr val="000000">
                <a:alpha val="12000"/>
              </a:srgbClr>
            </a:outerShdw>
          </a:effectLst>
        </p:spPr>
      </p:sp>
      <p:sp>
        <p:nvSpPr>
          <p:cNvPr id="5" name="Text 3"/>
          <p:cNvSpPr/>
          <p:nvPr/>
        </p:nvSpPr>
        <p:spPr>
          <a:xfrm>
            <a:off x="640080" y="1371600"/>
            <a:ext cx="3474720" cy="45720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The Problem</a:t>
            </a:r>
            <a:endParaRPr lang="en-US" sz="1600" dirty="0"/>
          </a:p>
        </p:txBody>
      </p:sp>
      <p:sp>
        <p:nvSpPr>
          <p:cNvPr id="6" name="Text 4"/>
          <p:cNvSpPr/>
          <p:nvPr/>
        </p:nvSpPr>
        <p:spPr>
          <a:xfrm>
            <a:off x="640080" y="1828800"/>
            <a:ext cx="3474720" cy="2560320"/>
          </a:xfrm>
          <a:prstGeom prst="rect">
            <a:avLst/>
          </a:prstGeom>
          <a:noFill/>
          <a:ln/>
        </p:spPr>
        <p:txBody>
          <a:bodyPr wrap="square" rtlCol="0" anchor="ctr"/>
          <a:lstStyle/>
          <a:p>
            <a:pPr marL="0" indent="0">
              <a:buNone/>
            </a:pPr>
            <a:r>
              <a:rPr lang="en-US" sz="1300" dirty="0">
                <a:solidFill>
                  <a:srgbClr val="0D1B2A"/>
                </a:solidFill>
                <a:latin typeface="Calibri" pitchFamily="34" charset="0"/>
                <a:ea typeface="Calibri" pitchFamily="34" charset="-122"/>
                <a:cs typeface="Calibri" pitchFamily="34" charset="-120"/>
              </a:rPr>
              <a:t>Smartphones have quietly become one of the most dominant forces in modern daily life shaping how we sleep, study, and manage stress. While convenient, they raise serious questions about where healthy usage ends and addiction begins.</a:t>
            </a:r>
            <a:endParaRPr lang="en-US" sz="1300" dirty="0"/>
          </a:p>
        </p:txBody>
      </p:sp>
      <p:sp>
        <p:nvSpPr>
          <p:cNvPr id="7" name="Shape 5"/>
          <p:cNvSpPr/>
          <p:nvPr/>
        </p:nvSpPr>
        <p:spPr>
          <a:xfrm>
            <a:off x="4754880" y="1188720"/>
            <a:ext cx="3931920" cy="3474720"/>
          </a:xfrm>
          <a:prstGeom prst="rect">
            <a:avLst/>
          </a:prstGeom>
          <a:solidFill>
            <a:srgbClr val="0D1B2A"/>
          </a:solidFill>
          <a:ln w="12700">
            <a:solidFill>
              <a:srgbClr val="0D1B2A"/>
            </a:solidFill>
            <a:prstDash val="solid"/>
          </a:ln>
          <a:effectLst>
            <a:outerShdw blurRad="101600" dist="38100" dir="8100000" algn="bl" rotWithShape="0">
              <a:srgbClr val="000000">
                <a:alpha val="12000"/>
              </a:srgbClr>
            </a:outerShdw>
          </a:effectLst>
        </p:spPr>
      </p:sp>
      <p:sp>
        <p:nvSpPr>
          <p:cNvPr id="8" name="Text 6"/>
          <p:cNvSpPr/>
          <p:nvPr/>
        </p:nvSpPr>
        <p:spPr>
          <a:xfrm>
            <a:off x="4937760" y="1371600"/>
            <a:ext cx="3566160" cy="457200"/>
          </a:xfrm>
          <a:prstGeom prst="rect">
            <a:avLst/>
          </a:prstGeom>
          <a:noFill/>
          <a:ln/>
        </p:spPr>
        <p:txBody>
          <a:bodyPr wrap="square" lIns="0" tIns="0" rIns="0" bIns="0" rtlCol="0" anchor="ctr"/>
          <a:lstStyle/>
          <a:p>
            <a:pPr marL="0" indent="0">
              <a:buNone/>
            </a:pPr>
            <a:r>
              <a:rPr lang="en-US" sz="1600" b="1" dirty="0">
                <a:solidFill>
                  <a:srgbClr val="FFD166"/>
                </a:solidFill>
                <a:latin typeface="Calibri" pitchFamily="34" charset="0"/>
                <a:ea typeface="Calibri" pitchFamily="34" charset="-122"/>
                <a:cs typeface="Calibri" pitchFamily="34" charset="-120"/>
              </a:rPr>
              <a:t>Our Goal</a:t>
            </a:r>
            <a:endParaRPr lang="en-US" sz="1600" dirty="0"/>
          </a:p>
        </p:txBody>
      </p:sp>
      <p:sp>
        <p:nvSpPr>
          <p:cNvPr id="9" name="Text 7"/>
          <p:cNvSpPr/>
          <p:nvPr/>
        </p:nvSpPr>
        <p:spPr>
          <a:xfrm>
            <a:off x="4937760" y="1920240"/>
            <a:ext cx="3474720" cy="2468880"/>
          </a:xfrm>
          <a:prstGeom prst="rect">
            <a:avLst/>
          </a:prstGeom>
          <a:noFill/>
          <a:ln/>
        </p:spPr>
        <p:txBody>
          <a:bodyPr wrap="square" rtlCol="0" anchor="ctr"/>
          <a:lstStyle/>
          <a:p>
            <a:pPr marL="0" indent="0">
              <a:lnSpc>
                <a:spcPct val="180000"/>
              </a:lnSpc>
              <a:buNone/>
            </a:pPr>
            <a:r>
              <a:rPr lang="en-US" sz="1300" dirty="0">
                <a:solidFill>
                  <a:srgbClr val="1B998B"/>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Uncover behavioral patterns
</a:t>
            </a:r>
            <a:r>
              <a:rPr lang="en-US" sz="1300" dirty="0">
                <a:solidFill>
                  <a:srgbClr val="1B998B"/>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Test 4 meaningful hypotheses
</a:t>
            </a:r>
            <a:r>
              <a:rPr lang="en-US" sz="1300" dirty="0">
                <a:solidFill>
                  <a:srgbClr val="1B998B"/>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Draw data-driven conclusions
</a:t>
            </a:r>
            <a:r>
              <a:rPr lang="en-US" sz="1300" dirty="0">
                <a:solidFill>
                  <a:srgbClr val="1B998B"/>
                </a:solidFill>
                <a:latin typeface="Calibri" pitchFamily="34" charset="0"/>
                <a:ea typeface="Calibri" pitchFamily="34" charset="-122"/>
                <a:cs typeface="Calibri" pitchFamily="34" charset="-120"/>
              </a:rPr>
              <a:t>✦  </a:t>
            </a:r>
            <a:r>
              <a:rPr lang="en-US" sz="1300" dirty="0">
                <a:solidFill>
                  <a:srgbClr val="FFFFFF"/>
                </a:solidFill>
                <a:latin typeface="Calibri" pitchFamily="34" charset="0"/>
                <a:ea typeface="Calibri" pitchFamily="34" charset="-122"/>
                <a:cs typeface="Calibri" pitchFamily="34" charset="-120"/>
              </a:rPr>
              <a:t>Help students &amp; mental health professionals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1B998B"/>
          </a:solidFill>
          <a:ln w="12700">
            <a:solidFill>
              <a:srgbClr val="1B998B"/>
            </a:solidFill>
            <a:prstDash val="solid"/>
          </a:ln>
        </p:spPr>
      </p:sp>
      <p:sp>
        <p:nvSpPr>
          <p:cNvPr id="3" name="Text 1"/>
          <p:cNvSpPr/>
          <p:nvPr/>
        </p:nvSpPr>
        <p:spPr>
          <a:xfrm>
            <a:off x="731520" y="36576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Research Question</a:t>
            </a:r>
            <a:endParaRPr lang="en-US" sz="2800" dirty="0"/>
          </a:p>
        </p:txBody>
      </p:sp>
      <p:sp>
        <p:nvSpPr>
          <p:cNvPr id="4" name="Shape 2"/>
          <p:cNvSpPr/>
          <p:nvPr/>
        </p:nvSpPr>
        <p:spPr>
          <a:xfrm>
            <a:off x="731520" y="1097280"/>
            <a:ext cx="7955280" cy="2377440"/>
          </a:xfrm>
          <a:prstGeom prst="rect">
            <a:avLst/>
          </a:prstGeom>
          <a:solidFill>
            <a:srgbClr val="132233"/>
          </a:solidFill>
          <a:ln w="12700">
            <a:solidFill>
              <a:srgbClr val="1B998B"/>
            </a:solidFill>
            <a:prstDash val="solid"/>
          </a:ln>
          <a:effectLst>
            <a:outerShdw blurRad="101600" dist="38100" dir="8100000" algn="bl" rotWithShape="0">
              <a:srgbClr val="000000">
                <a:alpha val="12000"/>
              </a:srgbClr>
            </a:outerShdw>
          </a:effectLst>
        </p:spPr>
      </p:sp>
      <p:sp>
        <p:nvSpPr>
          <p:cNvPr id="5" name="Text 3"/>
          <p:cNvSpPr/>
          <p:nvPr/>
        </p:nvSpPr>
        <p:spPr>
          <a:xfrm>
            <a:off x="1005840" y="1280160"/>
            <a:ext cx="7406640" cy="2011680"/>
          </a:xfrm>
          <a:prstGeom prst="rect">
            <a:avLst/>
          </a:prstGeom>
          <a:noFill/>
          <a:ln/>
        </p:spPr>
        <p:txBody>
          <a:bodyPr wrap="square" rtlCol="0" anchor="ctr"/>
          <a:lstStyle/>
          <a:p>
            <a:pPr marL="0" indent="0">
              <a:buNone/>
            </a:pPr>
            <a:r>
              <a:rPr lang="en-US" sz="1700" i="1" dirty="0">
                <a:solidFill>
                  <a:srgbClr val="FFFFFF"/>
                </a:solidFill>
                <a:latin typeface="Calibri" pitchFamily="34" charset="0"/>
                <a:ea typeface="Calibri" pitchFamily="34" charset="-122"/>
                <a:cs typeface="Calibri" pitchFamily="34" charset="-120"/>
              </a:rPr>
              <a:t>"To what extent does daily smartphone screen time contribute to addiction, and how do behavioral and demographic factors  such as sleep hours, stress level, and gender  relate to smartphone dependency among users?"</a:t>
            </a:r>
            <a:endParaRPr lang="en-US" sz="1700" dirty="0"/>
          </a:p>
        </p:txBody>
      </p:sp>
      <p:sp>
        <p:nvSpPr>
          <p:cNvPr id="6" name="Shape 4"/>
          <p:cNvSpPr/>
          <p:nvPr/>
        </p:nvSpPr>
        <p:spPr>
          <a:xfrm>
            <a:off x="731520" y="3840480"/>
            <a:ext cx="1828800" cy="640080"/>
          </a:xfrm>
          <a:prstGeom prst="roundRect">
            <a:avLst>
              <a:gd name="adj" fmla="val 14286"/>
            </a:avLst>
          </a:prstGeom>
          <a:solidFill>
            <a:srgbClr val="1B998B"/>
          </a:solidFill>
          <a:ln w="12700">
            <a:solidFill>
              <a:srgbClr val="1B998B"/>
            </a:solidFill>
            <a:prstDash val="solid"/>
          </a:ln>
        </p:spPr>
      </p:sp>
      <p:sp>
        <p:nvSpPr>
          <p:cNvPr id="7" name="Text 5"/>
          <p:cNvSpPr/>
          <p:nvPr/>
        </p:nvSpPr>
        <p:spPr>
          <a:xfrm>
            <a:off x="731520" y="3840480"/>
            <a:ext cx="182880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Screen Time</a:t>
            </a:r>
            <a:endParaRPr lang="en-US" sz="1300" dirty="0"/>
          </a:p>
        </p:txBody>
      </p:sp>
      <p:sp>
        <p:nvSpPr>
          <p:cNvPr id="8" name="Shape 6"/>
          <p:cNvSpPr/>
          <p:nvPr/>
        </p:nvSpPr>
        <p:spPr>
          <a:xfrm>
            <a:off x="2834640" y="3840480"/>
            <a:ext cx="1828800" cy="640080"/>
          </a:xfrm>
          <a:prstGeom prst="roundRect">
            <a:avLst>
              <a:gd name="adj" fmla="val 14286"/>
            </a:avLst>
          </a:prstGeom>
          <a:solidFill>
            <a:srgbClr val="1B998B"/>
          </a:solidFill>
          <a:ln w="12700">
            <a:solidFill>
              <a:srgbClr val="1B998B"/>
            </a:solidFill>
            <a:prstDash val="solid"/>
          </a:ln>
        </p:spPr>
      </p:sp>
      <p:sp>
        <p:nvSpPr>
          <p:cNvPr id="9" name="Text 7"/>
          <p:cNvSpPr/>
          <p:nvPr/>
        </p:nvSpPr>
        <p:spPr>
          <a:xfrm>
            <a:off x="2834640" y="3840480"/>
            <a:ext cx="182880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Sleep Hours</a:t>
            </a:r>
            <a:endParaRPr lang="en-US" sz="1300" dirty="0"/>
          </a:p>
        </p:txBody>
      </p:sp>
      <p:sp>
        <p:nvSpPr>
          <p:cNvPr id="10" name="Shape 8"/>
          <p:cNvSpPr/>
          <p:nvPr/>
        </p:nvSpPr>
        <p:spPr>
          <a:xfrm>
            <a:off x="4937760" y="3840480"/>
            <a:ext cx="1828800" cy="640080"/>
          </a:xfrm>
          <a:prstGeom prst="roundRect">
            <a:avLst>
              <a:gd name="adj" fmla="val 14286"/>
            </a:avLst>
          </a:prstGeom>
          <a:solidFill>
            <a:srgbClr val="1B998B"/>
          </a:solidFill>
          <a:ln w="12700">
            <a:solidFill>
              <a:srgbClr val="1B998B"/>
            </a:solidFill>
            <a:prstDash val="solid"/>
          </a:ln>
        </p:spPr>
      </p:sp>
      <p:sp>
        <p:nvSpPr>
          <p:cNvPr id="11" name="Text 9"/>
          <p:cNvSpPr/>
          <p:nvPr/>
        </p:nvSpPr>
        <p:spPr>
          <a:xfrm>
            <a:off x="4937760" y="3840480"/>
            <a:ext cx="182880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Stress Level</a:t>
            </a:r>
            <a:endParaRPr lang="en-US" sz="1300" dirty="0"/>
          </a:p>
        </p:txBody>
      </p:sp>
      <p:sp>
        <p:nvSpPr>
          <p:cNvPr id="12" name="Shape 10"/>
          <p:cNvSpPr/>
          <p:nvPr/>
        </p:nvSpPr>
        <p:spPr>
          <a:xfrm>
            <a:off x="7040880" y="3840480"/>
            <a:ext cx="1828800" cy="640080"/>
          </a:xfrm>
          <a:prstGeom prst="roundRect">
            <a:avLst>
              <a:gd name="adj" fmla="val 14286"/>
            </a:avLst>
          </a:prstGeom>
          <a:solidFill>
            <a:srgbClr val="1B998B"/>
          </a:solidFill>
          <a:ln w="12700">
            <a:solidFill>
              <a:srgbClr val="1B998B"/>
            </a:solidFill>
            <a:prstDash val="solid"/>
          </a:ln>
        </p:spPr>
      </p:sp>
      <p:sp>
        <p:nvSpPr>
          <p:cNvPr id="13" name="Text 11"/>
          <p:cNvSpPr/>
          <p:nvPr/>
        </p:nvSpPr>
        <p:spPr>
          <a:xfrm>
            <a:off x="7040880" y="3840480"/>
            <a:ext cx="182880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Gender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A"/>
          </a:solidFill>
          <a:ln w="12700">
            <a:solidFill>
              <a:srgbClr val="0D1B2A"/>
            </a:solidFill>
            <a:prstDash val="solid"/>
          </a:ln>
        </p:spPr>
      </p:sp>
      <p:sp>
        <p:nvSpPr>
          <p:cNvPr id="3" name="Text 1"/>
          <p:cNvSpPr/>
          <p:nvPr/>
        </p:nvSpPr>
        <p:spPr>
          <a:xfrm>
            <a:off x="457200" y="18288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02  Dataset &amp; Methodology</a:t>
            </a:r>
            <a:endParaRPr lang="en-US" sz="2800" dirty="0"/>
          </a:p>
        </p:txBody>
      </p:sp>
      <p:sp>
        <p:nvSpPr>
          <p:cNvPr id="4" name="Shape 2"/>
          <p:cNvSpPr/>
          <p:nvPr/>
        </p:nvSpPr>
        <p:spPr>
          <a:xfrm>
            <a:off x="457200" y="1188720"/>
            <a:ext cx="1828800" cy="1371600"/>
          </a:xfrm>
          <a:prstGeom prst="rect">
            <a:avLst/>
          </a:prstGeom>
          <a:solidFill>
            <a:srgbClr val="0D1B2A"/>
          </a:solidFill>
          <a:ln w="12700">
            <a:solidFill>
              <a:srgbClr val="0D1B2A"/>
            </a:solidFill>
            <a:prstDash val="solid"/>
          </a:ln>
          <a:effectLst>
            <a:outerShdw blurRad="101600" dist="38100" dir="8100000" algn="bl" rotWithShape="0">
              <a:srgbClr val="000000">
                <a:alpha val="12000"/>
              </a:srgbClr>
            </a:outerShdw>
          </a:effectLst>
        </p:spPr>
      </p:sp>
      <p:sp>
        <p:nvSpPr>
          <p:cNvPr id="5" name="Text 3"/>
          <p:cNvSpPr/>
          <p:nvPr/>
        </p:nvSpPr>
        <p:spPr>
          <a:xfrm>
            <a:off x="457200" y="1280160"/>
            <a:ext cx="1828800" cy="731520"/>
          </a:xfrm>
          <a:prstGeom prst="rect">
            <a:avLst/>
          </a:prstGeom>
          <a:noFill/>
          <a:ln/>
        </p:spPr>
        <p:txBody>
          <a:bodyPr wrap="square" lIns="0" tIns="0" rIns="0" bIns="0" rtlCol="0" anchor="ctr"/>
          <a:lstStyle/>
          <a:p>
            <a:pPr marL="0" indent="0" algn="ctr">
              <a:buNone/>
            </a:pPr>
            <a:r>
              <a:rPr lang="en-US" sz="2600" b="1" dirty="0">
                <a:solidFill>
                  <a:srgbClr val="FFD166"/>
                </a:solidFill>
                <a:latin typeface="Calibri" pitchFamily="34" charset="0"/>
                <a:ea typeface="Calibri" pitchFamily="34" charset="-122"/>
                <a:cs typeface="Calibri" pitchFamily="34" charset="-120"/>
              </a:rPr>
              <a:t>7,500</a:t>
            </a:r>
            <a:endParaRPr lang="en-US" sz="2600" dirty="0"/>
          </a:p>
        </p:txBody>
      </p:sp>
      <p:sp>
        <p:nvSpPr>
          <p:cNvPr id="6" name="Text 4"/>
          <p:cNvSpPr/>
          <p:nvPr/>
        </p:nvSpPr>
        <p:spPr>
          <a:xfrm>
            <a:off x="457200" y="2011680"/>
            <a:ext cx="1828800" cy="457200"/>
          </a:xfrm>
          <a:prstGeom prst="rect">
            <a:avLst/>
          </a:prstGeom>
          <a:noFill/>
          <a:ln/>
        </p:spPr>
        <p:txBody>
          <a:bodyPr wrap="square" lIns="0" tIns="0" rIns="0" bIns="0" rtlCol="0" anchor="ctr"/>
          <a:lstStyle/>
          <a:p>
            <a:pPr marL="0" indent="0" algn="ctr">
              <a:buNone/>
            </a:pPr>
            <a:r>
              <a:rPr lang="en-US" sz="1100" dirty="0">
                <a:solidFill>
                  <a:srgbClr val="C8EFE9"/>
                </a:solidFill>
                <a:latin typeface="Calibri" pitchFamily="34" charset="0"/>
                <a:ea typeface="Calibri" pitchFamily="34" charset="-122"/>
                <a:cs typeface="Calibri" pitchFamily="34" charset="-120"/>
              </a:rPr>
              <a:t>Total Records</a:t>
            </a:r>
            <a:endParaRPr lang="en-US" sz="1100" dirty="0"/>
          </a:p>
        </p:txBody>
      </p:sp>
      <p:sp>
        <p:nvSpPr>
          <p:cNvPr id="7" name="Shape 5"/>
          <p:cNvSpPr/>
          <p:nvPr/>
        </p:nvSpPr>
        <p:spPr>
          <a:xfrm>
            <a:off x="2560320" y="1188720"/>
            <a:ext cx="1828800" cy="1371600"/>
          </a:xfrm>
          <a:prstGeom prst="rect">
            <a:avLst/>
          </a:prstGeom>
          <a:solidFill>
            <a:srgbClr val="0D1B2A"/>
          </a:solidFill>
          <a:ln w="12700">
            <a:solidFill>
              <a:srgbClr val="0D1B2A"/>
            </a:solidFill>
            <a:prstDash val="solid"/>
          </a:ln>
          <a:effectLst>
            <a:outerShdw blurRad="101600" dist="38100" dir="8100000" algn="bl" rotWithShape="0">
              <a:srgbClr val="000000">
                <a:alpha val="12000"/>
              </a:srgbClr>
            </a:outerShdw>
          </a:effectLst>
        </p:spPr>
      </p:sp>
      <p:sp>
        <p:nvSpPr>
          <p:cNvPr id="8" name="Text 6"/>
          <p:cNvSpPr/>
          <p:nvPr/>
        </p:nvSpPr>
        <p:spPr>
          <a:xfrm>
            <a:off x="2560320" y="1280160"/>
            <a:ext cx="1828800" cy="731520"/>
          </a:xfrm>
          <a:prstGeom prst="rect">
            <a:avLst/>
          </a:prstGeom>
          <a:noFill/>
          <a:ln/>
        </p:spPr>
        <p:txBody>
          <a:bodyPr wrap="square" lIns="0" tIns="0" rIns="0" bIns="0" rtlCol="0" anchor="ctr"/>
          <a:lstStyle/>
          <a:p>
            <a:pPr marL="0" indent="0" algn="ctr">
              <a:buNone/>
            </a:pPr>
            <a:r>
              <a:rPr lang="en-US" sz="2600" b="1" dirty="0">
                <a:solidFill>
                  <a:srgbClr val="FFD166"/>
                </a:solidFill>
                <a:latin typeface="Calibri" pitchFamily="34" charset="0"/>
                <a:ea typeface="Calibri" pitchFamily="34" charset="-122"/>
                <a:cs typeface="Calibri" pitchFamily="34" charset="-120"/>
              </a:rPr>
              <a:t>14</a:t>
            </a:r>
            <a:endParaRPr lang="en-US" sz="2600" dirty="0"/>
          </a:p>
        </p:txBody>
      </p:sp>
      <p:sp>
        <p:nvSpPr>
          <p:cNvPr id="9" name="Text 7"/>
          <p:cNvSpPr/>
          <p:nvPr/>
        </p:nvSpPr>
        <p:spPr>
          <a:xfrm>
            <a:off x="2560320" y="2011680"/>
            <a:ext cx="1828800" cy="457200"/>
          </a:xfrm>
          <a:prstGeom prst="rect">
            <a:avLst/>
          </a:prstGeom>
          <a:noFill/>
          <a:ln/>
        </p:spPr>
        <p:txBody>
          <a:bodyPr wrap="square" lIns="0" tIns="0" rIns="0" bIns="0" rtlCol="0" anchor="ctr"/>
          <a:lstStyle/>
          <a:p>
            <a:pPr marL="0" indent="0" algn="ctr">
              <a:buNone/>
            </a:pPr>
            <a:r>
              <a:rPr lang="en-US" sz="1100" dirty="0">
                <a:solidFill>
                  <a:srgbClr val="C8EFE9"/>
                </a:solidFill>
                <a:latin typeface="Calibri" pitchFamily="34" charset="0"/>
                <a:ea typeface="Calibri" pitchFamily="34" charset="-122"/>
                <a:cs typeface="Calibri" pitchFamily="34" charset="-120"/>
              </a:rPr>
              <a:t>Features</a:t>
            </a:r>
            <a:endParaRPr lang="en-US" sz="1100" dirty="0"/>
          </a:p>
        </p:txBody>
      </p:sp>
      <p:sp>
        <p:nvSpPr>
          <p:cNvPr id="10" name="Shape 8"/>
          <p:cNvSpPr/>
          <p:nvPr/>
        </p:nvSpPr>
        <p:spPr>
          <a:xfrm>
            <a:off x="4663440" y="1188720"/>
            <a:ext cx="1828800" cy="1371600"/>
          </a:xfrm>
          <a:prstGeom prst="rect">
            <a:avLst/>
          </a:prstGeom>
          <a:solidFill>
            <a:srgbClr val="0D1B2A"/>
          </a:solidFill>
          <a:ln w="12700">
            <a:solidFill>
              <a:srgbClr val="0D1B2A"/>
            </a:solidFill>
            <a:prstDash val="solid"/>
          </a:ln>
          <a:effectLst>
            <a:outerShdw blurRad="101600" dist="38100" dir="8100000" algn="bl" rotWithShape="0">
              <a:srgbClr val="000000">
                <a:alpha val="12000"/>
              </a:srgbClr>
            </a:outerShdw>
          </a:effectLst>
        </p:spPr>
      </p:sp>
      <p:sp>
        <p:nvSpPr>
          <p:cNvPr id="11" name="Text 9"/>
          <p:cNvSpPr/>
          <p:nvPr/>
        </p:nvSpPr>
        <p:spPr>
          <a:xfrm>
            <a:off x="4663440" y="1280160"/>
            <a:ext cx="1828800" cy="731520"/>
          </a:xfrm>
          <a:prstGeom prst="rect">
            <a:avLst/>
          </a:prstGeom>
          <a:noFill/>
          <a:ln/>
        </p:spPr>
        <p:txBody>
          <a:bodyPr wrap="square" lIns="0" tIns="0" rIns="0" bIns="0" rtlCol="0" anchor="ctr"/>
          <a:lstStyle/>
          <a:p>
            <a:pPr marL="0" indent="0" algn="ctr">
              <a:buNone/>
            </a:pPr>
            <a:r>
              <a:rPr lang="en-US" sz="2600" b="1" dirty="0">
                <a:solidFill>
                  <a:srgbClr val="FFD166"/>
                </a:solidFill>
                <a:latin typeface="Calibri" pitchFamily="34" charset="0"/>
                <a:ea typeface="Calibri" pitchFamily="34" charset="-122"/>
                <a:cs typeface="Calibri" pitchFamily="34" charset="-120"/>
              </a:rPr>
              <a:t>70.8%</a:t>
            </a:r>
            <a:endParaRPr lang="en-US" sz="2600" dirty="0"/>
          </a:p>
        </p:txBody>
      </p:sp>
      <p:sp>
        <p:nvSpPr>
          <p:cNvPr id="12" name="Text 10"/>
          <p:cNvSpPr/>
          <p:nvPr/>
        </p:nvSpPr>
        <p:spPr>
          <a:xfrm>
            <a:off x="4663440" y="2011680"/>
            <a:ext cx="1828800" cy="457200"/>
          </a:xfrm>
          <a:prstGeom prst="rect">
            <a:avLst/>
          </a:prstGeom>
          <a:noFill/>
          <a:ln/>
        </p:spPr>
        <p:txBody>
          <a:bodyPr wrap="square" lIns="0" tIns="0" rIns="0" bIns="0" rtlCol="0" anchor="ctr"/>
          <a:lstStyle/>
          <a:p>
            <a:pPr marL="0" indent="0" algn="ctr">
              <a:buNone/>
            </a:pPr>
            <a:r>
              <a:rPr lang="en-US" sz="1100" dirty="0">
                <a:solidFill>
                  <a:srgbClr val="C8EFE9"/>
                </a:solidFill>
                <a:latin typeface="Calibri" pitchFamily="34" charset="0"/>
                <a:ea typeface="Calibri" pitchFamily="34" charset="-122"/>
                <a:cs typeface="Calibri" pitchFamily="34" charset="-120"/>
              </a:rPr>
              <a:t>Addicted Users</a:t>
            </a:r>
            <a:endParaRPr lang="en-US" sz="1100" dirty="0"/>
          </a:p>
        </p:txBody>
      </p:sp>
      <p:sp>
        <p:nvSpPr>
          <p:cNvPr id="13" name="Shape 11"/>
          <p:cNvSpPr/>
          <p:nvPr/>
        </p:nvSpPr>
        <p:spPr>
          <a:xfrm>
            <a:off x="6766560" y="1188720"/>
            <a:ext cx="1828800" cy="1371600"/>
          </a:xfrm>
          <a:prstGeom prst="rect">
            <a:avLst/>
          </a:prstGeom>
          <a:solidFill>
            <a:srgbClr val="0D1B2A"/>
          </a:solidFill>
          <a:ln w="12700">
            <a:solidFill>
              <a:srgbClr val="0D1B2A"/>
            </a:solidFill>
            <a:prstDash val="solid"/>
          </a:ln>
          <a:effectLst>
            <a:outerShdw blurRad="101600" dist="38100" dir="8100000" algn="bl" rotWithShape="0">
              <a:srgbClr val="000000">
                <a:alpha val="12000"/>
              </a:srgbClr>
            </a:outerShdw>
          </a:effectLst>
        </p:spPr>
      </p:sp>
      <p:sp>
        <p:nvSpPr>
          <p:cNvPr id="14" name="Text 12"/>
          <p:cNvSpPr/>
          <p:nvPr/>
        </p:nvSpPr>
        <p:spPr>
          <a:xfrm>
            <a:off x="6766560" y="1280160"/>
            <a:ext cx="1828800" cy="731520"/>
          </a:xfrm>
          <a:prstGeom prst="rect">
            <a:avLst/>
          </a:prstGeom>
          <a:noFill/>
          <a:ln/>
        </p:spPr>
        <p:txBody>
          <a:bodyPr wrap="square" lIns="0" tIns="0" rIns="0" bIns="0" rtlCol="0" anchor="ctr"/>
          <a:lstStyle/>
          <a:p>
            <a:pPr marL="0" indent="0" algn="ctr">
              <a:buNone/>
            </a:pPr>
            <a:r>
              <a:rPr lang="en-US" sz="2600" b="1" dirty="0">
                <a:solidFill>
                  <a:srgbClr val="FFD166"/>
                </a:solidFill>
                <a:latin typeface="Calibri" pitchFamily="34" charset="0"/>
                <a:ea typeface="Calibri" pitchFamily="34" charset="-122"/>
                <a:cs typeface="Calibri" pitchFamily="34" charset="-120"/>
              </a:rPr>
              <a:t>819</a:t>
            </a:r>
            <a:endParaRPr lang="en-US" sz="2600" dirty="0"/>
          </a:p>
        </p:txBody>
      </p:sp>
      <p:sp>
        <p:nvSpPr>
          <p:cNvPr id="15" name="Text 13"/>
          <p:cNvSpPr/>
          <p:nvPr/>
        </p:nvSpPr>
        <p:spPr>
          <a:xfrm>
            <a:off x="6766560" y="2011680"/>
            <a:ext cx="1828800" cy="457200"/>
          </a:xfrm>
          <a:prstGeom prst="rect">
            <a:avLst/>
          </a:prstGeom>
          <a:noFill/>
          <a:ln/>
        </p:spPr>
        <p:txBody>
          <a:bodyPr wrap="square" lIns="0" tIns="0" rIns="0" bIns="0" rtlCol="0" anchor="ctr"/>
          <a:lstStyle/>
          <a:p>
            <a:pPr marL="0" indent="0" algn="ctr">
              <a:buNone/>
            </a:pPr>
            <a:r>
              <a:rPr lang="en-US" sz="1100" dirty="0">
                <a:solidFill>
                  <a:srgbClr val="C8EFE9"/>
                </a:solidFill>
                <a:latin typeface="Calibri" pitchFamily="34" charset="0"/>
                <a:ea typeface="Calibri" pitchFamily="34" charset="-122"/>
                <a:cs typeface="Calibri" pitchFamily="34" charset="-120"/>
              </a:rPr>
              <a:t>Missing Values Fixed</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88056462"/>
              </p:ext>
            </p:extLst>
          </p:nvPr>
        </p:nvGraphicFramePr>
        <p:xfrm>
          <a:off x="457200" y="2743200"/>
          <a:ext cx="8229600" cy="2194560"/>
        </p:xfrm>
        <a:graphic>
          <a:graphicData uri="http://schemas.openxmlformats.org/drawingml/2006/table">
            <a:tbl>
              <a:tblPr/>
              <a:tblGrid>
                <a:gridCol w="27432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solidFill>
                      <a:srgbClr val="1B998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solidFill>
                      <a:srgbClr val="1B998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Description</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solidFill>
                      <a:srgbClr val="1B998B"/>
                    </a:solidFill>
                  </a:tcPr>
                </a:tc>
                <a:extLst>
                  <a:ext uri="{0D108BD9-81ED-4DB2-BD59-A6C34878D82A}">
                    <a16:rowId xmlns:a16="http://schemas.microsoft.com/office/drawing/2014/main" val="10000"/>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daily_screen_time_hours</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Numerical</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Average daily smartphone usage in hours</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sleep_hours</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Numerical</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Average sleep hours per night</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stress_level</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Categorical</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Perceived stress: Low, Medium, High</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gender</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Categorical</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Male, Female, Other</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addicted_label</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Binary</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Target: 0 = Not Addicted, 1 = Addicted</a:t>
                      </a:r>
                      <a:endParaRPr lang="en-US" sz="1200" dirty="0">
                        <a:latin typeface="Calibri" charset="0"/>
                        <a:ea typeface="Calibri" charset="0"/>
                        <a:cs typeface="Calibri" charset="0"/>
                      </a:endParaRPr>
                    </a:p>
                  </a:txBody>
                  <a:tcPr>
                    <a:lnL w="12700" cap="flat" cmpd="sng" algn="ctr">
                      <a:solidFill>
                        <a:srgbClr val="D0E8E4"/>
                      </a:solidFill>
                      <a:prstDash val="solid"/>
                      <a:round/>
                      <a:headEnd type="none" w="med" len="med"/>
                      <a:tailEnd type="none" w="med" len="med"/>
                    </a:lnL>
                    <a:lnR w="12700" cap="flat" cmpd="sng" algn="ctr">
                      <a:solidFill>
                        <a:srgbClr val="D0E8E4"/>
                      </a:solidFill>
                      <a:prstDash val="solid"/>
                      <a:round/>
                      <a:headEnd type="none" w="med" len="med"/>
                      <a:tailEnd type="none" w="med" len="med"/>
                    </a:lnR>
                    <a:lnT w="12700" cap="flat" cmpd="sng" algn="ctr">
                      <a:solidFill>
                        <a:srgbClr val="D0E8E4"/>
                      </a:solidFill>
                      <a:prstDash val="solid"/>
                      <a:round/>
                      <a:headEnd type="none" w="med" len="med"/>
                      <a:tailEnd type="none" w="med" len="med"/>
                    </a:lnT>
                    <a:lnB w="12700" cap="flat" cmpd="sng" algn="ctr">
                      <a:solidFill>
                        <a:srgbClr val="D0E8E4"/>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A"/>
          </a:solidFill>
          <a:ln w="12700">
            <a:solidFill>
              <a:srgbClr val="0D1B2A"/>
            </a:solidFill>
            <a:prstDash val="solid"/>
          </a:ln>
        </p:spPr>
      </p:sp>
      <p:sp>
        <p:nvSpPr>
          <p:cNvPr id="3" name="Text 1"/>
          <p:cNvSpPr/>
          <p:nvPr/>
        </p:nvSpPr>
        <p:spPr>
          <a:xfrm>
            <a:off x="457200" y="18288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03  Key Visualizations</a:t>
            </a:r>
            <a:endParaRPr lang="en-US" sz="2800" dirty="0"/>
          </a:p>
        </p:txBody>
      </p:sp>
      <p:sp>
        <p:nvSpPr>
          <p:cNvPr id="4" name="Shape 2"/>
          <p:cNvSpPr/>
          <p:nvPr/>
        </p:nvSpPr>
        <p:spPr>
          <a:xfrm>
            <a:off x="365760" y="1188720"/>
            <a:ext cx="2651760" cy="1554480"/>
          </a:xfrm>
          <a:prstGeom prst="rect">
            <a:avLst/>
          </a:prstGeom>
          <a:solidFill>
            <a:srgbClr val="F8FFFE"/>
          </a:solidFill>
          <a:ln w="12700">
            <a:solidFill>
              <a:srgbClr val="1B998B"/>
            </a:solidFill>
            <a:prstDash val="solid"/>
          </a:ln>
          <a:effectLst>
            <a:outerShdw blurRad="101600" dist="38100" dir="8100000" algn="bl" rotWithShape="0">
              <a:srgbClr val="000000">
                <a:alpha val="12000"/>
              </a:srgbClr>
            </a:outerShdw>
          </a:effectLst>
        </p:spPr>
      </p:sp>
      <p:sp>
        <p:nvSpPr>
          <p:cNvPr id="5" name="Shape 3"/>
          <p:cNvSpPr/>
          <p:nvPr/>
        </p:nvSpPr>
        <p:spPr>
          <a:xfrm>
            <a:off x="365760" y="1188720"/>
            <a:ext cx="2651760" cy="365760"/>
          </a:xfrm>
          <a:prstGeom prst="rect">
            <a:avLst/>
          </a:prstGeom>
          <a:solidFill>
            <a:srgbClr val="1B998B"/>
          </a:solidFill>
          <a:ln w="12700">
            <a:solidFill>
              <a:srgbClr val="1B998B"/>
            </a:solidFill>
            <a:prstDash val="solid"/>
          </a:ln>
        </p:spPr>
      </p:sp>
      <p:sp>
        <p:nvSpPr>
          <p:cNvPr id="6" name="Text 4"/>
          <p:cNvSpPr/>
          <p:nvPr/>
        </p:nvSpPr>
        <p:spPr>
          <a:xfrm>
            <a:off x="365760" y="1188720"/>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Distribution Plots</a:t>
            </a:r>
            <a:endParaRPr lang="en-US" sz="1200" dirty="0"/>
          </a:p>
        </p:txBody>
      </p:sp>
      <p:sp>
        <p:nvSpPr>
          <p:cNvPr id="7" name="Text 5"/>
          <p:cNvSpPr/>
          <p:nvPr/>
        </p:nvSpPr>
        <p:spPr>
          <a:xfrm>
            <a:off x="457200" y="1600200"/>
            <a:ext cx="2468880" cy="10058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Age, Screen Time &amp; Sleep Hours show relatively uniform distributions</a:t>
            </a:r>
            <a:endParaRPr lang="en-US" sz="1100" dirty="0"/>
          </a:p>
        </p:txBody>
      </p:sp>
      <p:sp>
        <p:nvSpPr>
          <p:cNvPr id="8" name="Shape 6"/>
          <p:cNvSpPr/>
          <p:nvPr/>
        </p:nvSpPr>
        <p:spPr>
          <a:xfrm>
            <a:off x="3200400" y="1188720"/>
            <a:ext cx="2651760" cy="1554480"/>
          </a:xfrm>
          <a:prstGeom prst="rect">
            <a:avLst/>
          </a:prstGeom>
          <a:solidFill>
            <a:srgbClr val="F8FFFE"/>
          </a:solidFill>
          <a:ln w="12700">
            <a:solidFill>
              <a:srgbClr val="0D1B2A"/>
            </a:solidFill>
            <a:prstDash val="solid"/>
          </a:ln>
          <a:effectLst>
            <a:outerShdw blurRad="101600" dist="38100" dir="8100000" algn="bl" rotWithShape="0">
              <a:srgbClr val="000000">
                <a:alpha val="12000"/>
              </a:srgbClr>
            </a:outerShdw>
          </a:effectLst>
        </p:spPr>
      </p:sp>
      <p:sp>
        <p:nvSpPr>
          <p:cNvPr id="9" name="Shape 7"/>
          <p:cNvSpPr/>
          <p:nvPr/>
        </p:nvSpPr>
        <p:spPr>
          <a:xfrm>
            <a:off x="3200400" y="1188720"/>
            <a:ext cx="2651760" cy="365760"/>
          </a:xfrm>
          <a:prstGeom prst="rect">
            <a:avLst/>
          </a:prstGeom>
          <a:solidFill>
            <a:srgbClr val="0D1B2A"/>
          </a:solidFill>
          <a:ln w="12700">
            <a:solidFill>
              <a:srgbClr val="0D1B2A"/>
            </a:solidFill>
            <a:prstDash val="solid"/>
          </a:ln>
        </p:spPr>
      </p:sp>
      <p:sp>
        <p:nvSpPr>
          <p:cNvPr id="10" name="Text 8"/>
          <p:cNvSpPr/>
          <p:nvPr/>
        </p:nvSpPr>
        <p:spPr>
          <a:xfrm>
            <a:off x="3200400" y="1188720"/>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Countplots</a:t>
            </a:r>
            <a:endParaRPr lang="en-US" sz="1200" dirty="0"/>
          </a:p>
        </p:txBody>
      </p:sp>
      <p:sp>
        <p:nvSpPr>
          <p:cNvPr id="11" name="Text 9"/>
          <p:cNvSpPr/>
          <p:nvPr/>
        </p:nvSpPr>
        <p:spPr>
          <a:xfrm>
            <a:off x="3291840" y="1600200"/>
            <a:ext cx="2468880" cy="10058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70.8% of users are addicted. Gender &amp; stress are evenly distributed</a:t>
            </a:r>
            <a:endParaRPr lang="en-US" sz="1100" dirty="0"/>
          </a:p>
        </p:txBody>
      </p:sp>
      <p:sp>
        <p:nvSpPr>
          <p:cNvPr id="12" name="Shape 10"/>
          <p:cNvSpPr/>
          <p:nvPr/>
        </p:nvSpPr>
        <p:spPr>
          <a:xfrm>
            <a:off x="6035040" y="1188720"/>
            <a:ext cx="2651760" cy="1554480"/>
          </a:xfrm>
          <a:prstGeom prst="rect">
            <a:avLst/>
          </a:prstGeom>
          <a:solidFill>
            <a:srgbClr val="F8FFFE"/>
          </a:solidFill>
          <a:ln w="12700">
            <a:solidFill>
              <a:srgbClr val="FF6B6B"/>
            </a:solidFill>
            <a:prstDash val="solid"/>
          </a:ln>
          <a:effectLst>
            <a:outerShdw blurRad="101600" dist="38100" dir="8100000" algn="bl" rotWithShape="0">
              <a:srgbClr val="000000">
                <a:alpha val="12000"/>
              </a:srgbClr>
            </a:outerShdw>
          </a:effectLst>
        </p:spPr>
      </p:sp>
      <p:sp>
        <p:nvSpPr>
          <p:cNvPr id="13" name="Shape 11"/>
          <p:cNvSpPr/>
          <p:nvPr/>
        </p:nvSpPr>
        <p:spPr>
          <a:xfrm>
            <a:off x="6035040" y="1188720"/>
            <a:ext cx="2651760" cy="365760"/>
          </a:xfrm>
          <a:prstGeom prst="rect">
            <a:avLst/>
          </a:prstGeom>
          <a:solidFill>
            <a:srgbClr val="FF6B6B"/>
          </a:solidFill>
          <a:ln w="12700">
            <a:solidFill>
              <a:srgbClr val="FF6B6B"/>
            </a:solidFill>
            <a:prstDash val="solid"/>
          </a:ln>
        </p:spPr>
      </p:sp>
      <p:sp>
        <p:nvSpPr>
          <p:cNvPr id="14" name="Text 12"/>
          <p:cNvSpPr/>
          <p:nvPr/>
        </p:nvSpPr>
        <p:spPr>
          <a:xfrm>
            <a:off x="6035040" y="1188720"/>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Boxplots</a:t>
            </a:r>
            <a:endParaRPr lang="en-US" sz="1200" dirty="0"/>
          </a:p>
        </p:txBody>
      </p:sp>
      <p:sp>
        <p:nvSpPr>
          <p:cNvPr id="15" name="Text 13"/>
          <p:cNvSpPr/>
          <p:nvPr/>
        </p:nvSpPr>
        <p:spPr>
          <a:xfrm>
            <a:off x="6126480" y="1600200"/>
            <a:ext cx="2468880" cy="10058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Addicted users have higher screen time &amp; fewer sleep hours</a:t>
            </a:r>
            <a:endParaRPr lang="en-US" sz="1100" dirty="0"/>
          </a:p>
        </p:txBody>
      </p:sp>
      <p:sp>
        <p:nvSpPr>
          <p:cNvPr id="16" name="Shape 14"/>
          <p:cNvSpPr/>
          <p:nvPr/>
        </p:nvSpPr>
        <p:spPr>
          <a:xfrm>
            <a:off x="365760" y="3017520"/>
            <a:ext cx="2651760" cy="1554480"/>
          </a:xfrm>
          <a:prstGeom prst="rect">
            <a:avLst/>
          </a:prstGeom>
          <a:solidFill>
            <a:srgbClr val="F8FFFE"/>
          </a:solidFill>
          <a:ln w="12700">
            <a:solidFill>
              <a:srgbClr val="1B6CA8"/>
            </a:solidFill>
            <a:prstDash val="solid"/>
          </a:ln>
          <a:effectLst>
            <a:outerShdw blurRad="101600" dist="38100" dir="8100000" algn="bl" rotWithShape="0">
              <a:srgbClr val="000000">
                <a:alpha val="12000"/>
              </a:srgbClr>
            </a:outerShdw>
          </a:effectLst>
        </p:spPr>
      </p:sp>
      <p:sp>
        <p:nvSpPr>
          <p:cNvPr id="17" name="Shape 15"/>
          <p:cNvSpPr/>
          <p:nvPr/>
        </p:nvSpPr>
        <p:spPr>
          <a:xfrm>
            <a:off x="365760" y="3017520"/>
            <a:ext cx="2651760" cy="365760"/>
          </a:xfrm>
          <a:prstGeom prst="rect">
            <a:avLst/>
          </a:prstGeom>
          <a:solidFill>
            <a:srgbClr val="1B6CA8"/>
          </a:solidFill>
          <a:ln w="12700">
            <a:solidFill>
              <a:srgbClr val="1B6CA8"/>
            </a:solidFill>
            <a:prstDash val="solid"/>
          </a:ln>
        </p:spPr>
      </p:sp>
      <p:sp>
        <p:nvSpPr>
          <p:cNvPr id="18" name="Text 16"/>
          <p:cNvSpPr/>
          <p:nvPr/>
        </p:nvSpPr>
        <p:spPr>
          <a:xfrm>
            <a:off x="365760" y="3017520"/>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Heatmap</a:t>
            </a:r>
            <a:endParaRPr lang="en-US" sz="1200" dirty="0"/>
          </a:p>
        </p:txBody>
      </p:sp>
      <p:sp>
        <p:nvSpPr>
          <p:cNvPr id="19" name="Text 17"/>
          <p:cNvSpPr/>
          <p:nvPr/>
        </p:nvSpPr>
        <p:spPr>
          <a:xfrm>
            <a:off x="457200" y="3429000"/>
            <a:ext cx="2468880" cy="10058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Screen time &amp; weekend usage show strong positive correlation</a:t>
            </a:r>
            <a:endParaRPr lang="en-US" sz="1100" dirty="0"/>
          </a:p>
        </p:txBody>
      </p:sp>
      <p:sp>
        <p:nvSpPr>
          <p:cNvPr id="20" name="Shape 18"/>
          <p:cNvSpPr/>
          <p:nvPr/>
        </p:nvSpPr>
        <p:spPr>
          <a:xfrm>
            <a:off x="3200400" y="3017520"/>
            <a:ext cx="2651760" cy="1554480"/>
          </a:xfrm>
          <a:prstGeom prst="rect">
            <a:avLst/>
          </a:prstGeom>
          <a:solidFill>
            <a:srgbClr val="F8FFFE"/>
          </a:solidFill>
          <a:ln w="12700">
            <a:solidFill>
              <a:srgbClr val="7B2D8B"/>
            </a:solidFill>
            <a:prstDash val="solid"/>
          </a:ln>
          <a:effectLst>
            <a:outerShdw blurRad="101600" dist="38100" dir="8100000" algn="bl" rotWithShape="0">
              <a:srgbClr val="000000">
                <a:alpha val="12000"/>
              </a:srgbClr>
            </a:outerShdw>
          </a:effectLst>
        </p:spPr>
      </p:sp>
      <p:sp>
        <p:nvSpPr>
          <p:cNvPr id="21" name="Shape 19"/>
          <p:cNvSpPr/>
          <p:nvPr/>
        </p:nvSpPr>
        <p:spPr>
          <a:xfrm>
            <a:off x="3200400" y="3017520"/>
            <a:ext cx="2651760" cy="365760"/>
          </a:xfrm>
          <a:prstGeom prst="rect">
            <a:avLst/>
          </a:prstGeom>
          <a:solidFill>
            <a:srgbClr val="7B2D8B"/>
          </a:solidFill>
          <a:ln w="12700">
            <a:solidFill>
              <a:srgbClr val="7B2D8B"/>
            </a:solidFill>
            <a:prstDash val="solid"/>
          </a:ln>
        </p:spPr>
      </p:sp>
      <p:sp>
        <p:nvSpPr>
          <p:cNvPr id="22" name="Text 20"/>
          <p:cNvSpPr/>
          <p:nvPr/>
        </p:nvSpPr>
        <p:spPr>
          <a:xfrm>
            <a:off x="3200400" y="3017520"/>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Pairplot</a:t>
            </a:r>
            <a:endParaRPr lang="en-US" sz="1200" dirty="0"/>
          </a:p>
        </p:txBody>
      </p:sp>
      <p:sp>
        <p:nvSpPr>
          <p:cNvPr id="23" name="Text 21"/>
          <p:cNvSpPr/>
          <p:nvPr/>
        </p:nvSpPr>
        <p:spPr>
          <a:xfrm>
            <a:off x="3291840" y="3429000"/>
            <a:ext cx="2468880" cy="10058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No clear visual separation between addicted &amp; non-addicted clusters</a:t>
            </a:r>
            <a:endParaRPr lang="en-US" sz="1100" dirty="0"/>
          </a:p>
        </p:txBody>
      </p:sp>
      <p:sp>
        <p:nvSpPr>
          <p:cNvPr id="24" name="Shape 22"/>
          <p:cNvSpPr/>
          <p:nvPr/>
        </p:nvSpPr>
        <p:spPr>
          <a:xfrm>
            <a:off x="6035040" y="3017520"/>
            <a:ext cx="2651760" cy="1554480"/>
          </a:xfrm>
          <a:prstGeom prst="rect">
            <a:avLst/>
          </a:prstGeom>
          <a:solidFill>
            <a:srgbClr val="F8FFFE"/>
          </a:solidFill>
          <a:ln w="12700">
            <a:solidFill>
              <a:srgbClr val="D4822A"/>
            </a:solidFill>
            <a:prstDash val="solid"/>
          </a:ln>
          <a:effectLst>
            <a:outerShdw blurRad="101600" dist="38100" dir="8100000" algn="bl" rotWithShape="0">
              <a:srgbClr val="000000">
                <a:alpha val="12000"/>
              </a:srgbClr>
            </a:outerShdw>
          </a:effectLst>
        </p:spPr>
      </p:sp>
      <p:sp>
        <p:nvSpPr>
          <p:cNvPr id="25" name="Shape 23"/>
          <p:cNvSpPr/>
          <p:nvPr/>
        </p:nvSpPr>
        <p:spPr>
          <a:xfrm>
            <a:off x="6035040" y="3017520"/>
            <a:ext cx="2651760" cy="365760"/>
          </a:xfrm>
          <a:prstGeom prst="rect">
            <a:avLst/>
          </a:prstGeom>
          <a:solidFill>
            <a:srgbClr val="D4822A"/>
          </a:solidFill>
          <a:ln w="12700">
            <a:solidFill>
              <a:srgbClr val="D4822A"/>
            </a:solidFill>
            <a:prstDash val="solid"/>
          </a:ln>
        </p:spPr>
      </p:sp>
      <p:sp>
        <p:nvSpPr>
          <p:cNvPr id="26" name="Text 24"/>
          <p:cNvSpPr/>
          <p:nvPr/>
        </p:nvSpPr>
        <p:spPr>
          <a:xfrm>
            <a:off x="6035040" y="3017520"/>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Stacked Bars</a:t>
            </a:r>
            <a:endParaRPr lang="en-US" sz="1200" dirty="0"/>
          </a:p>
        </p:txBody>
      </p:sp>
      <p:sp>
        <p:nvSpPr>
          <p:cNvPr id="27" name="Text 25"/>
          <p:cNvSpPr/>
          <p:nvPr/>
        </p:nvSpPr>
        <p:spPr>
          <a:xfrm>
            <a:off x="6126480" y="3429000"/>
            <a:ext cx="2468880" cy="1005840"/>
          </a:xfrm>
          <a:prstGeom prst="rect">
            <a:avLst/>
          </a:prstGeom>
          <a:noFill/>
          <a:ln/>
        </p:spPr>
        <p:txBody>
          <a:bodyPr wrap="square" rtlCol="0" anchor="ctr"/>
          <a:lstStyle/>
          <a:p>
            <a:pPr marL="0" indent="0">
              <a:buNone/>
            </a:pPr>
            <a:r>
              <a:rPr lang="en-US" sz="1100" dirty="0">
                <a:solidFill>
                  <a:srgbClr val="0D1B2A"/>
                </a:solidFill>
                <a:latin typeface="Calibri" pitchFamily="34" charset="0"/>
                <a:ea typeface="Calibri" pitchFamily="34" charset="-122"/>
                <a:cs typeface="Calibri" pitchFamily="34" charset="-120"/>
              </a:rPr>
              <a:t>All genders show ~70% addiction rate. High stress shows slightly more</a:t>
            </a:r>
            <a:endParaRPr lang="en-US" sz="1100" dirty="0"/>
          </a:p>
        </p:txBody>
      </p:sp>
      <p:sp>
        <p:nvSpPr>
          <p:cNvPr id="28" name="Text 26"/>
          <p:cNvSpPr/>
          <p:nvPr/>
        </p:nvSpPr>
        <p:spPr>
          <a:xfrm>
            <a:off x="457200" y="4754880"/>
            <a:ext cx="8229600" cy="27432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  Insert your actual plot screenshots into each section of the poster/report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1B2A"/>
          </a:solidFill>
          <a:ln w="12700">
            <a:solidFill>
              <a:srgbClr val="0D1B2A"/>
            </a:solidFill>
            <a:prstDash val="solid"/>
          </a:ln>
        </p:spPr>
      </p:sp>
      <p:sp>
        <p:nvSpPr>
          <p:cNvPr id="3" name="Text 1"/>
          <p:cNvSpPr/>
          <p:nvPr/>
        </p:nvSpPr>
        <p:spPr>
          <a:xfrm>
            <a:off x="457200" y="18288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04  Hypothesis Testing Results</a:t>
            </a:r>
            <a:endParaRPr lang="en-US" sz="2800" dirty="0"/>
          </a:p>
        </p:txBody>
      </p:sp>
      <p:sp>
        <p:nvSpPr>
          <p:cNvPr id="4" name="Shape 2"/>
          <p:cNvSpPr/>
          <p:nvPr/>
        </p:nvSpPr>
        <p:spPr>
          <a:xfrm>
            <a:off x="365760" y="1135856"/>
            <a:ext cx="8412480" cy="749808"/>
          </a:xfrm>
          <a:prstGeom prst="rect">
            <a:avLst/>
          </a:prstGeom>
          <a:solidFill>
            <a:srgbClr val="F0F8F7"/>
          </a:solidFill>
          <a:ln w="12700">
            <a:solidFill>
              <a:srgbClr val="D0E8E4"/>
            </a:solidFill>
            <a:prstDash val="solid"/>
          </a:ln>
        </p:spPr>
      </p:sp>
      <p:sp>
        <p:nvSpPr>
          <p:cNvPr id="5" name="Shape 3"/>
          <p:cNvSpPr/>
          <p:nvPr/>
        </p:nvSpPr>
        <p:spPr>
          <a:xfrm>
            <a:off x="365760" y="1143000"/>
            <a:ext cx="457200" cy="749808"/>
          </a:xfrm>
          <a:prstGeom prst="rect">
            <a:avLst/>
          </a:prstGeom>
          <a:solidFill>
            <a:srgbClr val="1B998B"/>
          </a:solidFill>
          <a:ln w="12700">
            <a:solidFill>
              <a:srgbClr val="1B998B"/>
            </a:solidFill>
            <a:prstDash val="solid"/>
          </a:ln>
        </p:spPr>
      </p:sp>
      <p:sp>
        <p:nvSpPr>
          <p:cNvPr id="6" name="Text 4"/>
          <p:cNvSpPr/>
          <p:nvPr/>
        </p:nvSpPr>
        <p:spPr>
          <a:xfrm>
            <a:off x="365760" y="1143000"/>
            <a:ext cx="457200"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H1</a:t>
            </a:r>
            <a:endParaRPr lang="en-US" sz="1300" dirty="0"/>
          </a:p>
        </p:txBody>
      </p:sp>
      <p:sp>
        <p:nvSpPr>
          <p:cNvPr id="7" name="Text 5"/>
          <p:cNvSpPr/>
          <p:nvPr/>
        </p:nvSpPr>
        <p:spPr>
          <a:xfrm>
            <a:off x="914400" y="1143000"/>
            <a:ext cx="1371600" cy="74980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T-Test</a:t>
            </a:r>
            <a:endParaRPr lang="en-US" sz="1200" dirty="0"/>
          </a:p>
        </p:txBody>
      </p:sp>
      <p:sp>
        <p:nvSpPr>
          <p:cNvPr id="8" name="Text 6"/>
          <p:cNvSpPr/>
          <p:nvPr/>
        </p:nvSpPr>
        <p:spPr>
          <a:xfrm>
            <a:off x="2377440" y="1143000"/>
            <a:ext cx="2743200" cy="7498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Screen Time vs Addiction</a:t>
            </a:r>
            <a:endParaRPr lang="en-US" sz="1200" dirty="0"/>
          </a:p>
        </p:txBody>
      </p:sp>
      <p:sp>
        <p:nvSpPr>
          <p:cNvPr id="9" name="Text 7"/>
          <p:cNvSpPr/>
          <p:nvPr/>
        </p:nvSpPr>
        <p:spPr>
          <a:xfrm>
            <a:off x="5212080" y="1143000"/>
            <a:ext cx="2011680" cy="74980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 = 61.19 | p = 0.0</a:t>
            </a:r>
            <a:endParaRPr lang="en-US" sz="1100" dirty="0"/>
          </a:p>
        </p:txBody>
      </p:sp>
      <p:sp>
        <p:nvSpPr>
          <p:cNvPr id="10" name="Shape 8"/>
          <p:cNvSpPr/>
          <p:nvPr/>
        </p:nvSpPr>
        <p:spPr>
          <a:xfrm>
            <a:off x="7315200" y="1280160"/>
            <a:ext cx="1371600" cy="475488"/>
          </a:xfrm>
          <a:prstGeom prst="rect">
            <a:avLst/>
          </a:prstGeom>
          <a:solidFill>
            <a:srgbClr val="1B998B"/>
          </a:solidFill>
          <a:ln w="12700">
            <a:solidFill>
              <a:srgbClr val="1B998B"/>
            </a:solidFill>
            <a:prstDash val="solid"/>
          </a:ln>
        </p:spPr>
      </p:sp>
      <p:sp>
        <p:nvSpPr>
          <p:cNvPr id="11" name="Text 9"/>
          <p:cNvSpPr/>
          <p:nvPr/>
        </p:nvSpPr>
        <p:spPr>
          <a:xfrm>
            <a:off x="7315200" y="1280160"/>
            <a:ext cx="1371600"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REJECT H₀ ✓</a:t>
            </a:r>
            <a:endParaRPr lang="en-US" sz="1000" dirty="0"/>
          </a:p>
        </p:txBody>
      </p:sp>
      <p:sp>
        <p:nvSpPr>
          <p:cNvPr id="12" name="Shape 10"/>
          <p:cNvSpPr/>
          <p:nvPr/>
        </p:nvSpPr>
        <p:spPr>
          <a:xfrm>
            <a:off x="365760" y="2057400"/>
            <a:ext cx="8412480" cy="749808"/>
          </a:xfrm>
          <a:prstGeom prst="rect">
            <a:avLst/>
          </a:prstGeom>
          <a:solidFill>
            <a:srgbClr val="FFFFFF"/>
          </a:solidFill>
          <a:ln w="12700">
            <a:solidFill>
              <a:srgbClr val="D0E8E4"/>
            </a:solidFill>
            <a:prstDash val="solid"/>
          </a:ln>
        </p:spPr>
      </p:sp>
      <p:sp>
        <p:nvSpPr>
          <p:cNvPr id="13" name="Shape 11"/>
          <p:cNvSpPr/>
          <p:nvPr/>
        </p:nvSpPr>
        <p:spPr>
          <a:xfrm>
            <a:off x="365760" y="2057400"/>
            <a:ext cx="457200" cy="749808"/>
          </a:xfrm>
          <a:prstGeom prst="rect">
            <a:avLst/>
          </a:prstGeom>
          <a:solidFill>
            <a:srgbClr val="FF6B6B"/>
          </a:solidFill>
          <a:ln w="12700">
            <a:solidFill>
              <a:srgbClr val="FF6B6B"/>
            </a:solidFill>
            <a:prstDash val="solid"/>
          </a:ln>
        </p:spPr>
      </p:sp>
      <p:sp>
        <p:nvSpPr>
          <p:cNvPr id="14" name="Text 12"/>
          <p:cNvSpPr/>
          <p:nvPr/>
        </p:nvSpPr>
        <p:spPr>
          <a:xfrm>
            <a:off x="365760" y="2057400"/>
            <a:ext cx="457200"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H2</a:t>
            </a:r>
            <a:endParaRPr lang="en-US" sz="1300" dirty="0"/>
          </a:p>
        </p:txBody>
      </p:sp>
      <p:sp>
        <p:nvSpPr>
          <p:cNvPr id="15" name="Text 13"/>
          <p:cNvSpPr/>
          <p:nvPr/>
        </p:nvSpPr>
        <p:spPr>
          <a:xfrm>
            <a:off x="914400" y="2057400"/>
            <a:ext cx="1371600" cy="74980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Pearson r</a:t>
            </a:r>
            <a:endParaRPr lang="en-US" sz="1200" dirty="0"/>
          </a:p>
        </p:txBody>
      </p:sp>
      <p:sp>
        <p:nvSpPr>
          <p:cNvPr id="16" name="Text 14"/>
          <p:cNvSpPr/>
          <p:nvPr/>
        </p:nvSpPr>
        <p:spPr>
          <a:xfrm>
            <a:off x="2377440" y="2057400"/>
            <a:ext cx="2743200" cy="7498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Screen Time vs Sleep</a:t>
            </a:r>
            <a:endParaRPr lang="en-US" sz="1200" dirty="0"/>
          </a:p>
        </p:txBody>
      </p:sp>
      <p:sp>
        <p:nvSpPr>
          <p:cNvPr id="17" name="Text 15"/>
          <p:cNvSpPr/>
          <p:nvPr/>
        </p:nvSpPr>
        <p:spPr>
          <a:xfrm>
            <a:off x="5212080" y="2057400"/>
            <a:ext cx="2011680" cy="74980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 = 0.019 | p = 0.094</a:t>
            </a:r>
            <a:endParaRPr lang="en-US" sz="1100" dirty="0"/>
          </a:p>
        </p:txBody>
      </p:sp>
      <p:sp>
        <p:nvSpPr>
          <p:cNvPr id="18" name="Shape 16"/>
          <p:cNvSpPr/>
          <p:nvPr/>
        </p:nvSpPr>
        <p:spPr>
          <a:xfrm>
            <a:off x="7315200" y="2194560"/>
            <a:ext cx="1371600" cy="475488"/>
          </a:xfrm>
          <a:prstGeom prst="rect">
            <a:avLst/>
          </a:prstGeom>
          <a:solidFill>
            <a:srgbClr val="FF6B6B"/>
          </a:solidFill>
          <a:ln w="12700">
            <a:solidFill>
              <a:srgbClr val="FF6B6B"/>
            </a:solidFill>
            <a:prstDash val="solid"/>
          </a:ln>
        </p:spPr>
      </p:sp>
      <p:sp>
        <p:nvSpPr>
          <p:cNvPr id="19" name="Text 17"/>
          <p:cNvSpPr/>
          <p:nvPr/>
        </p:nvSpPr>
        <p:spPr>
          <a:xfrm>
            <a:off x="7315200" y="2194560"/>
            <a:ext cx="1371600"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FAIL TO REJECT</a:t>
            </a:r>
            <a:endParaRPr lang="en-US" sz="1000" dirty="0"/>
          </a:p>
        </p:txBody>
      </p:sp>
      <p:sp>
        <p:nvSpPr>
          <p:cNvPr id="20" name="Shape 18"/>
          <p:cNvSpPr/>
          <p:nvPr/>
        </p:nvSpPr>
        <p:spPr>
          <a:xfrm>
            <a:off x="365760" y="2971800"/>
            <a:ext cx="8412480" cy="749808"/>
          </a:xfrm>
          <a:prstGeom prst="rect">
            <a:avLst/>
          </a:prstGeom>
          <a:solidFill>
            <a:srgbClr val="F0F8F7"/>
          </a:solidFill>
          <a:ln w="12700">
            <a:solidFill>
              <a:srgbClr val="D0E8E4"/>
            </a:solidFill>
            <a:prstDash val="solid"/>
          </a:ln>
        </p:spPr>
      </p:sp>
      <p:sp>
        <p:nvSpPr>
          <p:cNvPr id="21" name="Shape 19"/>
          <p:cNvSpPr/>
          <p:nvPr/>
        </p:nvSpPr>
        <p:spPr>
          <a:xfrm>
            <a:off x="365760" y="2971800"/>
            <a:ext cx="457200" cy="749808"/>
          </a:xfrm>
          <a:prstGeom prst="rect">
            <a:avLst/>
          </a:prstGeom>
          <a:solidFill>
            <a:srgbClr val="FF6B6B"/>
          </a:solidFill>
          <a:ln w="12700">
            <a:solidFill>
              <a:srgbClr val="FF6B6B"/>
            </a:solidFill>
            <a:prstDash val="solid"/>
          </a:ln>
        </p:spPr>
      </p:sp>
      <p:sp>
        <p:nvSpPr>
          <p:cNvPr id="22" name="Text 20"/>
          <p:cNvSpPr/>
          <p:nvPr/>
        </p:nvSpPr>
        <p:spPr>
          <a:xfrm>
            <a:off x="365760" y="2971800"/>
            <a:ext cx="457200"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H3</a:t>
            </a:r>
            <a:endParaRPr lang="en-US" sz="1300" dirty="0"/>
          </a:p>
        </p:txBody>
      </p:sp>
      <p:sp>
        <p:nvSpPr>
          <p:cNvPr id="23" name="Text 21"/>
          <p:cNvSpPr/>
          <p:nvPr/>
        </p:nvSpPr>
        <p:spPr>
          <a:xfrm>
            <a:off x="914400" y="2971800"/>
            <a:ext cx="1371600" cy="74980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Chi-Square</a:t>
            </a:r>
            <a:endParaRPr lang="en-US" sz="1200" dirty="0"/>
          </a:p>
        </p:txBody>
      </p:sp>
      <p:sp>
        <p:nvSpPr>
          <p:cNvPr id="24" name="Text 22"/>
          <p:cNvSpPr/>
          <p:nvPr/>
        </p:nvSpPr>
        <p:spPr>
          <a:xfrm>
            <a:off x="2377440" y="2971800"/>
            <a:ext cx="2743200" cy="7498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Gender vs Addiction</a:t>
            </a:r>
            <a:endParaRPr lang="en-US" sz="1200" dirty="0"/>
          </a:p>
        </p:txBody>
      </p:sp>
      <p:sp>
        <p:nvSpPr>
          <p:cNvPr id="25" name="Text 23"/>
          <p:cNvSpPr/>
          <p:nvPr/>
        </p:nvSpPr>
        <p:spPr>
          <a:xfrm>
            <a:off x="5212080" y="2971800"/>
            <a:ext cx="2011680" cy="74980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χ² = 2.382 | p = 0.123</a:t>
            </a:r>
            <a:endParaRPr lang="en-US" sz="1100" dirty="0"/>
          </a:p>
        </p:txBody>
      </p:sp>
      <p:sp>
        <p:nvSpPr>
          <p:cNvPr id="26" name="Shape 24"/>
          <p:cNvSpPr/>
          <p:nvPr/>
        </p:nvSpPr>
        <p:spPr>
          <a:xfrm>
            <a:off x="7315200" y="3108960"/>
            <a:ext cx="1371600" cy="475488"/>
          </a:xfrm>
          <a:prstGeom prst="rect">
            <a:avLst/>
          </a:prstGeom>
          <a:solidFill>
            <a:srgbClr val="FF6B6B"/>
          </a:solidFill>
          <a:ln w="12700">
            <a:solidFill>
              <a:srgbClr val="FF6B6B"/>
            </a:solidFill>
            <a:prstDash val="solid"/>
          </a:ln>
        </p:spPr>
      </p:sp>
      <p:sp>
        <p:nvSpPr>
          <p:cNvPr id="27" name="Text 25"/>
          <p:cNvSpPr/>
          <p:nvPr/>
        </p:nvSpPr>
        <p:spPr>
          <a:xfrm>
            <a:off x="7315200" y="3108960"/>
            <a:ext cx="1371600"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FAIL TO REJECT</a:t>
            </a:r>
            <a:endParaRPr lang="en-US" sz="1000" dirty="0"/>
          </a:p>
        </p:txBody>
      </p:sp>
      <p:sp>
        <p:nvSpPr>
          <p:cNvPr id="28" name="Shape 26"/>
          <p:cNvSpPr/>
          <p:nvPr/>
        </p:nvSpPr>
        <p:spPr>
          <a:xfrm>
            <a:off x="365760" y="3886200"/>
            <a:ext cx="8412480" cy="749808"/>
          </a:xfrm>
          <a:prstGeom prst="rect">
            <a:avLst/>
          </a:prstGeom>
          <a:solidFill>
            <a:srgbClr val="FFFFFF"/>
          </a:solidFill>
          <a:ln w="12700">
            <a:solidFill>
              <a:srgbClr val="D0E8E4"/>
            </a:solidFill>
            <a:prstDash val="solid"/>
          </a:ln>
        </p:spPr>
      </p:sp>
      <p:sp>
        <p:nvSpPr>
          <p:cNvPr id="29" name="Shape 27"/>
          <p:cNvSpPr/>
          <p:nvPr/>
        </p:nvSpPr>
        <p:spPr>
          <a:xfrm>
            <a:off x="365760" y="3886200"/>
            <a:ext cx="457200" cy="749808"/>
          </a:xfrm>
          <a:prstGeom prst="rect">
            <a:avLst/>
          </a:prstGeom>
          <a:solidFill>
            <a:srgbClr val="FF6B6B"/>
          </a:solidFill>
          <a:ln w="12700">
            <a:solidFill>
              <a:srgbClr val="FF6B6B"/>
            </a:solidFill>
            <a:prstDash val="solid"/>
          </a:ln>
        </p:spPr>
      </p:sp>
      <p:sp>
        <p:nvSpPr>
          <p:cNvPr id="30" name="Text 28"/>
          <p:cNvSpPr/>
          <p:nvPr/>
        </p:nvSpPr>
        <p:spPr>
          <a:xfrm>
            <a:off x="365760" y="3886200"/>
            <a:ext cx="457200"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H4</a:t>
            </a:r>
            <a:endParaRPr lang="en-US" sz="1300" dirty="0"/>
          </a:p>
        </p:txBody>
      </p:sp>
      <p:sp>
        <p:nvSpPr>
          <p:cNvPr id="31" name="Text 29"/>
          <p:cNvSpPr/>
          <p:nvPr/>
        </p:nvSpPr>
        <p:spPr>
          <a:xfrm>
            <a:off x="914400" y="3886200"/>
            <a:ext cx="1371600" cy="749808"/>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Chi-Square</a:t>
            </a:r>
            <a:endParaRPr lang="en-US" sz="1200" dirty="0"/>
          </a:p>
        </p:txBody>
      </p:sp>
      <p:sp>
        <p:nvSpPr>
          <p:cNvPr id="32" name="Text 30"/>
          <p:cNvSpPr/>
          <p:nvPr/>
        </p:nvSpPr>
        <p:spPr>
          <a:xfrm>
            <a:off x="2377440" y="3886200"/>
            <a:ext cx="2743200" cy="749808"/>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Stress Level vs Addiction</a:t>
            </a:r>
            <a:endParaRPr lang="en-US" sz="1200" dirty="0"/>
          </a:p>
        </p:txBody>
      </p:sp>
      <p:sp>
        <p:nvSpPr>
          <p:cNvPr id="33" name="Text 31"/>
          <p:cNvSpPr/>
          <p:nvPr/>
        </p:nvSpPr>
        <p:spPr>
          <a:xfrm>
            <a:off x="5212080" y="3886200"/>
            <a:ext cx="2011680" cy="74980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χ² = 2.498 | p = 0.645</a:t>
            </a:r>
            <a:endParaRPr lang="en-US" sz="1100" dirty="0"/>
          </a:p>
        </p:txBody>
      </p:sp>
      <p:sp>
        <p:nvSpPr>
          <p:cNvPr id="34" name="Shape 32"/>
          <p:cNvSpPr/>
          <p:nvPr/>
        </p:nvSpPr>
        <p:spPr>
          <a:xfrm>
            <a:off x="7315200" y="4023360"/>
            <a:ext cx="1371600" cy="475488"/>
          </a:xfrm>
          <a:prstGeom prst="rect">
            <a:avLst/>
          </a:prstGeom>
          <a:solidFill>
            <a:srgbClr val="FF6B6B"/>
          </a:solidFill>
          <a:ln w="12700">
            <a:solidFill>
              <a:srgbClr val="FF6B6B"/>
            </a:solidFill>
            <a:prstDash val="solid"/>
          </a:ln>
        </p:spPr>
      </p:sp>
      <p:sp>
        <p:nvSpPr>
          <p:cNvPr id="35" name="Text 33"/>
          <p:cNvSpPr/>
          <p:nvPr/>
        </p:nvSpPr>
        <p:spPr>
          <a:xfrm>
            <a:off x="7315200" y="4023360"/>
            <a:ext cx="1371600" cy="47548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FAIL TO REJECT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75E6D55-D868-0E12-3170-FD72387B94F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2E045A1-83DE-3C3F-509C-F8FD64825E58}"/>
              </a:ext>
            </a:extLst>
          </p:cNvPr>
          <p:cNvSpPr/>
          <p:nvPr/>
        </p:nvSpPr>
        <p:spPr>
          <a:xfrm>
            <a:off x="0" y="0"/>
            <a:ext cx="9144000" cy="1005840"/>
          </a:xfrm>
          <a:prstGeom prst="rect">
            <a:avLst/>
          </a:prstGeom>
          <a:solidFill>
            <a:srgbClr val="0D1B2A"/>
          </a:solidFill>
          <a:ln w="12700">
            <a:solidFill>
              <a:srgbClr val="0D1B2A"/>
            </a:solidFill>
            <a:prstDash val="solid"/>
          </a:ln>
        </p:spPr>
      </p:sp>
      <p:sp>
        <p:nvSpPr>
          <p:cNvPr id="3" name="Text 1">
            <a:extLst>
              <a:ext uri="{FF2B5EF4-FFF2-40B4-BE49-F238E27FC236}">
                <a16:creationId xmlns:a16="http://schemas.microsoft.com/office/drawing/2014/main" id="{7C6FB31E-72F0-559B-6F4E-3877286CF3B6}"/>
              </a:ext>
            </a:extLst>
          </p:cNvPr>
          <p:cNvSpPr/>
          <p:nvPr/>
        </p:nvSpPr>
        <p:spPr>
          <a:xfrm>
            <a:off x="457200" y="18288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05  Analysis</a:t>
            </a:r>
            <a:endParaRPr lang="en-US" sz="2800" dirty="0"/>
          </a:p>
        </p:txBody>
      </p:sp>
      <p:sp>
        <p:nvSpPr>
          <p:cNvPr id="4" name="Shape 2">
            <a:extLst>
              <a:ext uri="{FF2B5EF4-FFF2-40B4-BE49-F238E27FC236}">
                <a16:creationId xmlns:a16="http://schemas.microsoft.com/office/drawing/2014/main" id="{A99DF3AD-8C8A-F086-D724-A30923ECA135}"/>
              </a:ext>
            </a:extLst>
          </p:cNvPr>
          <p:cNvSpPr/>
          <p:nvPr/>
        </p:nvSpPr>
        <p:spPr>
          <a:xfrm>
            <a:off x="267290" y="1260157"/>
            <a:ext cx="3271836" cy="3261836"/>
          </a:xfrm>
          <a:prstGeom prst="rect">
            <a:avLst/>
          </a:prstGeom>
          <a:solidFill>
            <a:srgbClr val="0D1B2A"/>
          </a:solidFill>
          <a:ln w="12700">
            <a:solidFill>
              <a:srgbClr val="0D1B2A"/>
            </a:solidFill>
            <a:prstDash val="solid"/>
          </a:ln>
          <a:effectLst>
            <a:outerShdw blurRad="101600" dist="38100" dir="8100000" algn="bl" rotWithShape="0">
              <a:srgbClr val="000000">
                <a:alpha val="12000"/>
              </a:srgbClr>
            </a:outerShdw>
          </a:effectLst>
        </p:spPr>
      </p:sp>
      <p:sp>
        <p:nvSpPr>
          <p:cNvPr id="10" name="Shape 8">
            <a:extLst>
              <a:ext uri="{FF2B5EF4-FFF2-40B4-BE49-F238E27FC236}">
                <a16:creationId xmlns:a16="http://schemas.microsoft.com/office/drawing/2014/main" id="{3AFD7F32-6FCA-DF1D-994A-D44DD082B984}"/>
              </a:ext>
            </a:extLst>
          </p:cNvPr>
          <p:cNvSpPr/>
          <p:nvPr/>
        </p:nvSpPr>
        <p:spPr>
          <a:xfrm>
            <a:off x="3807619" y="2100262"/>
            <a:ext cx="4572000" cy="1771651"/>
          </a:xfrm>
          <a:prstGeom prst="rect">
            <a:avLst/>
          </a:prstGeom>
          <a:solidFill>
            <a:srgbClr val="0D1B2A"/>
          </a:solidFill>
          <a:ln w="12700">
            <a:solidFill>
              <a:srgbClr val="0D1B2A"/>
            </a:solidFill>
            <a:prstDash val="solid"/>
          </a:ln>
          <a:effectLst>
            <a:outerShdw blurRad="101600" dist="38100" dir="8100000" algn="bl" rotWithShape="0">
              <a:srgbClr val="000000">
                <a:alpha val="12000"/>
              </a:srgbClr>
            </a:outerShdw>
          </a:effectLst>
        </p:spPr>
        <p:txBody>
          <a:bodyPr/>
          <a:lstStyle/>
          <a:p>
            <a:endParaRPr lang="ar-EG" dirty="0"/>
          </a:p>
        </p:txBody>
      </p:sp>
      <p:sp>
        <p:nvSpPr>
          <p:cNvPr id="12" name="Text 10">
            <a:extLst>
              <a:ext uri="{FF2B5EF4-FFF2-40B4-BE49-F238E27FC236}">
                <a16:creationId xmlns:a16="http://schemas.microsoft.com/office/drawing/2014/main" id="{0E6EFF5B-8AEF-6139-2559-296DE500F269}"/>
              </a:ext>
            </a:extLst>
          </p:cNvPr>
          <p:cNvSpPr/>
          <p:nvPr/>
        </p:nvSpPr>
        <p:spPr>
          <a:xfrm>
            <a:off x="3921919" y="2350294"/>
            <a:ext cx="4236243" cy="1228725"/>
          </a:xfrm>
          <a:prstGeom prst="rect">
            <a:avLst/>
          </a:prstGeom>
          <a:noFill/>
          <a:ln/>
        </p:spPr>
        <p:txBody>
          <a:bodyPr wrap="square" lIns="0" tIns="0" rIns="0" bIns="0" rtlCol="0" anchor="ctr"/>
          <a:lstStyle/>
          <a:p>
            <a:r>
              <a:rPr lang="en-US" sz="900" dirty="0">
                <a:solidFill>
                  <a:schemeClr val="bg1"/>
                </a:solidFill>
              </a:rPr>
              <a:t>The boxplot highlights daily screen time as a critical determinant of smartphone addiction: </a:t>
            </a:r>
          </a:p>
          <a:p>
            <a:r>
              <a:rPr lang="en-US" sz="900" b="1" dirty="0">
                <a:solidFill>
                  <a:schemeClr val="bg1"/>
                </a:solidFill>
              </a:rPr>
              <a:t>Distinct Usage Patterns</a:t>
            </a:r>
            <a:r>
              <a:rPr lang="en-US" sz="900" dirty="0">
                <a:solidFill>
                  <a:schemeClr val="bg1"/>
                </a:solidFill>
              </a:rPr>
              <a:t>: Addicted users (1) exhibit significantly higher usage, with a median of </a:t>
            </a:r>
            <a:r>
              <a:rPr lang="en-US" sz="900" b="1" dirty="0">
                <a:solidFill>
                  <a:schemeClr val="bg1"/>
                </a:solidFill>
              </a:rPr>
              <a:t>9 hours</a:t>
            </a:r>
            <a:r>
              <a:rPr lang="en-US" sz="900" dirty="0">
                <a:solidFill>
                  <a:schemeClr val="bg1"/>
                </a:solidFill>
              </a:rPr>
              <a:t> and peaks of </a:t>
            </a:r>
            <a:r>
              <a:rPr lang="en-US" sz="900" b="1" dirty="0">
                <a:solidFill>
                  <a:schemeClr val="bg1"/>
                </a:solidFill>
              </a:rPr>
              <a:t>12 hours</a:t>
            </a:r>
            <a:r>
              <a:rPr lang="en-US" sz="900" dirty="0">
                <a:solidFill>
                  <a:schemeClr val="bg1"/>
                </a:solidFill>
              </a:rPr>
              <a:t>, whereas non-addicted users (0) maintain a much lower median of </a:t>
            </a:r>
            <a:r>
              <a:rPr lang="en-US" sz="900" b="1" dirty="0">
                <a:solidFill>
                  <a:schemeClr val="bg1"/>
                </a:solidFill>
              </a:rPr>
              <a:t>5 hours</a:t>
            </a:r>
            <a:r>
              <a:rPr lang="en-US" sz="900" dirty="0">
                <a:solidFill>
                  <a:schemeClr val="bg1"/>
                </a:solidFill>
              </a:rPr>
              <a:t>. </a:t>
            </a:r>
          </a:p>
          <a:p>
            <a:r>
              <a:rPr lang="en-US" sz="900" b="1" dirty="0">
                <a:solidFill>
                  <a:schemeClr val="bg1"/>
                </a:solidFill>
              </a:rPr>
              <a:t>Strong Predictability</a:t>
            </a:r>
            <a:r>
              <a:rPr lang="en-US" sz="900" dirty="0">
                <a:solidFill>
                  <a:schemeClr val="bg1"/>
                </a:solidFill>
              </a:rPr>
              <a:t>: The complete lack of overlap between the interquartile ranges of both groups suggests that screen time is a primary predictor for addiction. </a:t>
            </a:r>
          </a:p>
          <a:p>
            <a:r>
              <a:rPr lang="en-US" sz="900" b="1" dirty="0">
                <a:solidFill>
                  <a:schemeClr val="bg1"/>
                </a:solidFill>
              </a:rPr>
              <a:t>Model Justification</a:t>
            </a:r>
            <a:r>
              <a:rPr lang="en-US" sz="900" dirty="0">
                <a:solidFill>
                  <a:schemeClr val="bg1"/>
                </a:solidFill>
              </a:rPr>
              <a:t>: These visual findings provide clear evidence for why machine learning models prioritize screen time as the most important feature</a:t>
            </a:r>
          </a:p>
        </p:txBody>
      </p:sp>
      <p:pic>
        <p:nvPicPr>
          <p:cNvPr id="18" name="Picture 17">
            <a:extLst>
              <a:ext uri="{FF2B5EF4-FFF2-40B4-BE49-F238E27FC236}">
                <a16:creationId xmlns:a16="http://schemas.microsoft.com/office/drawing/2014/main" id="{325B7E1F-372B-2C9A-5C3A-8C0CC4DE4CB3}"/>
              </a:ext>
            </a:extLst>
          </p:cNvPr>
          <p:cNvPicPr>
            <a:picLocks noChangeAspect="1"/>
          </p:cNvPicPr>
          <p:nvPr/>
        </p:nvPicPr>
        <p:blipFill>
          <a:blip r:embed="rId3"/>
          <a:stretch>
            <a:fillRect/>
          </a:stretch>
        </p:blipFill>
        <p:spPr>
          <a:xfrm>
            <a:off x="298835" y="1331595"/>
            <a:ext cx="3208747" cy="3118961"/>
          </a:xfrm>
          <a:prstGeom prst="rect">
            <a:avLst/>
          </a:prstGeom>
        </p:spPr>
      </p:pic>
    </p:spTree>
    <p:extLst>
      <p:ext uri="{BB962C8B-B14F-4D97-AF65-F5344CB8AC3E}">
        <p14:creationId xmlns:p14="http://schemas.microsoft.com/office/powerpoint/2010/main" val="2393486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E73DB08-9879-5B80-F10E-43303B24A7B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43C50AA-A394-258C-0D96-A0F9026D5DBD}"/>
              </a:ext>
            </a:extLst>
          </p:cNvPr>
          <p:cNvSpPr/>
          <p:nvPr/>
        </p:nvSpPr>
        <p:spPr>
          <a:xfrm>
            <a:off x="0" y="0"/>
            <a:ext cx="9144000" cy="1005840"/>
          </a:xfrm>
          <a:prstGeom prst="rect">
            <a:avLst/>
          </a:prstGeom>
          <a:solidFill>
            <a:srgbClr val="0D1B2A"/>
          </a:solidFill>
          <a:ln w="12700">
            <a:solidFill>
              <a:srgbClr val="0D1B2A"/>
            </a:solidFill>
            <a:prstDash val="solid"/>
          </a:ln>
        </p:spPr>
      </p:sp>
      <p:sp>
        <p:nvSpPr>
          <p:cNvPr id="3" name="Text 1">
            <a:extLst>
              <a:ext uri="{FF2B5EF4-FFF2-40B4-BE49-F238E27FC236}">
                <a16:creationId xmlns:a16="http://schemas.microsoft.com/office/drawing/2014/main" id="{63092763-39A8-0712-5AF3-0C1C6FFFBF97}"/>
              </a:ext>
            </a:extLst>
          </p:cNvPr>
          <p:cNvSpPr/>
          <p:nvPr/>
        </p:nvSpPr>
        <p:spPr>
          <a:xfrm>
            <a:off x="457200" y="18288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05  Analysis</a:t>
            </a:r>
            <a:endParaRPr lang="en-US" sz="2800" dirty="0"/>
          </a:p>
        </p:txBody>
      </p:sp>
      <p:sp>
        <p:nvSpPr>
          <p:cNvPr id="4" name="Shape 2">
            <a:extLst>
              <a:ext uri="{FF2B5EF4-FFF2-40B4-BE49-F238E27FC236}">
                <a16:creationId xmlns:a16="http://schemas.microsoft.com/office/drawing/2014/main" id="{272DE914-399B-9C65-8637-059FC14ACC55}"/>
              </a:ext>
            </a:extLst>
          </p:cNvPr>
          <p:cNvSpPr/>
          <p:nvPr/>
        </p:nvSpPr>
        <p:spPr>
          <a:xfrm>
            <a:off x="267290" y="1260157"/>
            <a:ext cx="3271836" cy="3261836"/>
          </a:xfrm>
          <a:prstGeom prst="rect">
            <a:avLst/>
          </a:prstGeom>
          <a:solidFill>
            <a:srgbClr val="0D1B2A"/>
          </a:solidFill>
          <a:ln w="12700">
            <a:solidFill>
              <a:srgbClr val="0D1B2A"/>
            </a:solidFill>
            <a:prstDash val="solid"/>
          </a:ln>
          <a:effectLst>
            <a:outerShdw blurRad="101600" dist="38100" dir="8100000" algn="bl" rotWithShape="0">
              <a:srgbClr val="000000">
                <a:alpha val="12000"/>
              </a:srgbClr>
            </a:outerShdw>
          </a:effectLst>
        </p:spPr>
      </p:sp>
      <p:sp>
        <p:nvSpPr>
          <p:cNvPr id="10" name="Shape 8">
            <a:extLst>
              <a:ext uri="{FF2B5EF4-FFF2-40B4-BE49-F238E27FC236}">
                <a16:creationId xmlns:a16="http://schemas.microsoft.com/office/drawing/2014/main" id="{9DC87ABF-B9BF-5BDF-9778-9987F6F7CC79}"/>
              </a:ext>
            </a:extLst>
          </p:cNvPr>
          <p:cNvSpPr/>
          <p:nvPr/>
        </p:nvSpPr>
        <p:spPr>
          <a:xfrm>
            <a:off x="3807619" y="1885950"/>
            <a:ext cx="4572000" cy="1921669"/>
          </a:xfrm>
          <a:prstGeom prst="rect">
            <a:avLst/>
          </a:prstGeom>
          <a:solidFill>
            <a:srgbClr val="0D1B2A"/>
          </a:solidFill>
          <a:ln w="12700">
            <a:solidFill>
              <a:srgbClr val="0D1B2A"/>
            </a:solidFill>
            <a:prstDash val="solid"/>
          </a:ln>
          <a:effectLst>
            <a:outerShdw blurRad="101600" dist="38100" dir="8100000" algn="bl" rotWithShape="0">
              <a:srgbClr val="000000">
                <a:alpha val="12000"/>
              </a:srgbClr>
            </a:outerShdw>
          </a:effectLst>
        </p:spPr>
        <p:txBody>
          <a:bodyPr/>
          <a:lstStyle/>
          <a:p>
            <a:endParaRPr lang="ar-EG" dirty="0"/>
          </a:p>
        </p:txBody>
      </p:sp>
      <p:sp>
        <p:nvSpPr>
          <p:cNvPr id="12" name="Text 10">
            <a:extLst>
              <a:ext uri="{FF2B5EF4-FFF2-40B4-BE49-F238E27FC236}">
                <a16:creationId xmlns:a16="http://schemas.microsoft.com/office/drawing/2014/main" id="{A6C85E89-7155-2D51-6CCE-690A15339323}"/>
              </a:ext>
            </a:extLst>
          </p:cNvPr>
          <p:cNvSpPr/>
          <p:nvPr/>
        </p:nvSpPr>
        <p:spPr>
          <a:xfrm>
            <a:off x="3921919" y="2128838"/>
            <a:ext cx="4343399" cy="1450181"/>
          </a:xfrm>
          <a:prstGeom prst="rect">
            <a:avLst/>
          </a:prstGeom>
          <a:noFill/>
          <a:ln/>
        </p:spPr>
        <p:txBody>
          <a:bodyPr wrap="square" lIns="0" tIns="0" rIns="0" bIns="0" rtlCol="0" anchor="ctr"/>
          <a:lstStyle/>
          <a:p>
            <a:r>
              <a:rPr lang="en-US" sz="900" dirty="0">
                <a:solidFill>
                  <a:schemeClr val="bg1"/>
                </a:solidFill>
              </a:rPr>
              <a:t>The boxplot demonstrates that sleep duration does not differentiate addiction levels: </a:t>
            </a:r>
          </a:p>
          <a:p>
            <a:r>
              <a:rPr lang="en-US" sz="900" b="1" dirty="0">
                <a:solidFill>
                  <a:schemeClr val="bg1"/>
                </a:solidFill>
              </a:rPr>
              <a:t>Identical Patterns</a:t>
            </a:r>
            <a:r>
              <a:rPr lang="en-US" sz="900" dirty="0">
                <a:solidFill>
                  <a:schemeClr val="bg1"/>
                </a:solidFill>
              </a:rPr>
              <a:t>: Both addicted (1) and non-addicted (0) groups share a nearly identical median of approximately </a:t>
            </a:r>
            <a:r>
              <a:rPr lang="en-US" sz="900" b="1" dirty="0">
                <a:solidFill>
                  <a:schemeClr val="bg1"/>
                </a:solidFill>
              </a:rPr>
              <a:t>6.7 sleep hours</a:t>
            </a:r>
            <a:r>
              <a:rPr lang="en-US" sz="900" dirty="0">
                <a:solidFill>
                  <a:schemeClr val="bg1"/>
                </a:solidFill>
              </a:rPr>
              <a:t>. </a:t>
            </a:r>
          </a:p>
          <a:p>
            <a:r>
              <a:rPr lang="en-US" sz="900" b="1" dirty="0">
                <a:solidFill>
                  <a:schemeClr val="bg1"/>
                </a:solidFill>
              </a:rPr>
              <a:t>High Overlap</a:t>
            </a:r>
            <a:r>
              <a:rPr lang="en-US" sz="900" dirty="0">
                <a:solidFill>
                  <a:schemeClr val="bg1"/>
                </a:solidFill>
              </a:rPr>
              <a:t>: The interquartile ranges and extreme values for both groups largely overlap, showing no substantial difference in sleep duration. </a:t>
            </a:r>
          </a:p>
          <a:p>
            <a:r>
              <a:rPr lang="en-US" sz="900" b="1" dirty="0">
                <a:solidFill>
                  <a:schemeClr val="bg1"/>
                </a:solidFill>
              </a:rPr>
              <a:t>Statistical Confirmation</a:t>
            </a:r>
            <a:r>
              <a:rPr lang="en-US" sz="900" dirty="0">
                <a:solidFill>
                  <a:schemeClr val="bg1"/>
                </a:solidFill>
              </a:rPr>
              <a:t>: These visual findings support previous statistical tests and Pearson correlations that identified sleep hours as a non-significant indicator of smartphone addiction. </a:t>
            </a:r>
          </a:p>
        </p:txBody>
      </p:sp>
      <p:pic>
        <p:nvPicPr>
          <p:cNvPr id="6" name="Picture 5">
            <a:extLst>
              <a:ext uri="{FF2B5EF4-FFF2-40B4-BE49-F238E27FC236}">
                <a16:creationId xmlns:a16="http://schemas.microsoft.com/office/drawing/2014/main" id="{2533D8AC-216C-650C-A2B4-5F7481ACC0B8}"/>
              </a:ext>
            </a:extLst>
          </p:cNvPr>
          <p:cNvPicPr>
            <a:picLocks noChangeAspect="1"/>
          </p:cNvPicPr>
          <p:nvPr/>
        </p:nvPicPr>
        <p:blipFill>
          <a:blip r:embed="rId3"/>
          <a:stretch>
            <a:fillRect/>
          </a:stretch>
        </p:blipFill>
        <p:spPr>
          <a:xfrm>
            <a:off x="335755" y="1335881"/>
            <a:ext cx="3150395" cy="3093243"/>
          </a:xfrm>
          <a:prstGeom prst="rect">
            <a:avLst/>
          </a:prstGeom>
        </p:spPr>
      </p:pic>
    </p:spTree>
    <p:extLst>
      <p:ext uri="{BB962C8B-B14F-4D97-AF65-F5344CB8AC3E}">
        <p14:creationId xmlns:p14="http://schemas.microsoft.com/office/powerpoint/2010/main" val="4022359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FC3278C-AF92-D883-586C-6FAF5DF9521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AE5C31A-61BE-2F49-A2DD-47EEEF55F2F6}"/>
              </a:ext>
            </a:extLst>
          </p:cNvPr>
          <p:cNvSpPr/>
          <p:nvPr/>
        </p:nvSpPr>
        <p:spPr>
          <a:xfrm>
            <a:off x="0" y="0"/>
            <a:ext cx="9144000" cy="1005840"/>
          </a:xfrm>
          <a:prstGeom prst="rect">
            <a:avLst/>
          </a:prstGeom>
          <a:solidFill>
            <a:srgbClr val="0D1B2A"/>
          </a:solidFill>
          <a:ln w="12700">
            <a:solidFill>
              <a:srgbClr val="0D1B2A"/>
            </a:solidFill>
            <a:prstDash val="solid"/>
          </a:ln>
        </p:spPr>
      </p:sp>
      <p:sp>
        <p:nvSpPr>
          <p:cNvPr id="3" name="Text 1">
            <a:extLst>
              <a:ext uri="{FF2B5EF4-FFF2-40B4-BE49-F238E27FC236}">
                <a16:creationId xmlns:a16="http://schemas.microsoft.com/office/drawing/2014/main" id="{0197C237-68D6-58E2-8B4E-39F61DFC8D0D}"/>
              </a:ext>
            </a:extLst>
          </p:cNvPr>
          <p:cNvSpPr/>
          <p:nvPr/>
        </p:nvSpPr>
        <p:spPr>
          <a:xfrm>
            <a:off x="457200" y="18288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05  Analysis</a:t>
            </a:r>
            <a:endParaRPr lang="en-US" sz="2800" dirty="0"/>
          </a:p>
        </p:txBody>
      </p:sp>
      <p:sp>
        <p:nvSpPr>
          <p:cNvPr id="4" name="Shape 2">
            <a:extLst>
              <a:ext uri="{FF2B5EF4-FFF2-40B4-BE49-F238E27FC236}">
                <a16:creationId xmlns:a16="http://schemas.microsoft.com/office/drawing/2014/main" id="{0C068967-71E0-9A41-5918-4AF52710E599}"/>
              </a:ext>
            </a:extLst>
          </p:cNvPr>
          <p:cNvSpPr/>
          <p:nvPr/>
        </p:nvSpPr>
        <p:spPr>
          <a:xfrm>
            <a:off x="267290" y="1260157"/>
            <a:ext cx="3271836" cy="3261836"/>
          </a:xfrm>
          <a:prstGeom prst="rect">
            <a:avLst/>
          </a:prstGeom>
          <a:solidFill>
            <a:srgbClr val="0D1B2A"/>
          </a:solidFill>
          <a:ln w="12700">
            <a:solidFill>
              <a:srgbClr val="0D1B2A"/>
            </a:solidFill>
            <a:prstDash val="solid"/>
          </a:ln>
          <a:effectLst>
            <a:outerShdw blurRad="101600" dist="38100" dir="8100000" algn="bl" rotWithShape="0">
              <a:srgbClr val="000000">
                <a:alpha val="12000"/>
              </a:srgbClr>
            </a:outerShdw>
          </a:effectLst>
        </p:spPr>
      </p:sp>
      <p:sp>
        <p:nvSpPr>
          <p:cNvPr id="10" name="Shape 8">
            <a:extLst>
              <a:ext uri="{FF2B5EF4-FFF2-40B4-BE49-F238E27FC236}">
                <a16:creationId xmlns:a16="http://schemas.microsoft.com/office/drawing/2014/main" id="{9D2366EA-BC16-698C-AF21-EF2F40A4134D}"/>
              </a:ext>
            </a:extLst>
          </p:cNvPr>
          <p:cNvSpPr/>
          <p:nvPr/>
        </p:nvSpPr>
        <p:spPr>
          <a:xfrm>
            <a:off x="3807619" y="1885950"/>
            <a:ext cx="4572000" cy="1921669"/>
          </a:xfrm>
          <a:prstGeom prst="rect">
            <a:avLst/>
          </a:prstGeom>
          <a:solidFill>
            <a:srgbClr val="0D1B2A"/>
          </a:solidFill>
          <a:ln w="12700">
            <a:solidFill>
              <a:srgbClr val="0D1B2A"/>
            </a:solidFill>
            <a:prstDash val="solid"/>
          </a:ln>
          <a:effectLst>
            <a:outerShdw blurRad="101600" dist="38100" dir="8100000" algn="bl" rotWithShape="0">
              <a:srgbClr val="000000">
                <a:alpha val="12000"/>
              </a:srgbClr>
            </a:outerShdw>
          </a:effectLst>
        </p:spPr>
        <p:txBody>
          <a:bodyPr/>
          <a:lstStyle/>
          <a:p>
            <a:endParaRPr lang="ar-EG" dirty="0"/>
          </a:p>
        </p:txBody>
      </p:sp>
      <p:sp>
        <p:nvSpPr>
          <p:cNvPr id="12" name="Text 10">
            <a:extLst>
              <a:ext uri="{FF2B5EF4-FFF2-40B4-BE49-F238E27FC236}">
                <a16:creationId xmlns:a16="http://schemas.microsoft.com/office/drawing/2014/main" id="{09C918C6-844D-8EB8-48CB-0D8E1902812A}"/>
              </a:ext>
            </a:extLst>
          </p:cNvPr>
          <p:cNvSpPr/>
          <p:nvPr/>
        </p:nvSpPr>
        <p:spPr>
          <a:xfrm>
            <a:off x="3921919" y="2128838"/>
            <a:ext cx="4343399" cy="1450181"/>
          </a:xfrm>
          <a:prstGeom prst="rect">
            <a:avLst/>
          </a:prstGeom>
          <a:noFill/>
          <a:ln/>
        </p:spPr>
        <p:txBody>
          <a:bodyPr wrap="square" lIns="0" tIns="0" rIns="0" bIns="0" rtlCol="0" anchor="ctr"/>
          <a:lstStyle/>
          <a:p>
            <a:r>
              <a:rPr lang="en-US" sz="900" dirty="0">
                <a:solidFill>
                  <a:schemeClr val="bg1"/>
                </a:solidFill>
              </a:rPr>
              <a:t>The count plot highlights the demographic balance of the study: </a:t>
            </a:r>
          </a:p>
          <a:p>
            <a:r>
              <a:rPr lang="en-US" sz="900" b="1" dirty="0">
                <a:solidFill>
                  <a:schemeClr val="bg1"/>
                </a:solidFill>
              </a:rPr>
              <a:t>Balanced Representation</a:t>
            </a:r>
            <a:r>
              <a:rPr lang="en-US" sz="900" dirty="0">
                <a:solidFill>
                  <a:schemeClr val="bg1"/>
                </a:solidFill>
              </a:rPr>
              <a:t>: The dataset features an almost equal distribution across all three gender categories: </a:t>
            </a:r>
            <a:r>
              <a:rPr lang="en-US" sz="900" b="1" dirty="0">
                <a:solidFill>
                  <a:schemeClr val="bg1"/>
                </a:solidFill>
              </a:rPr>
              <a:t>0 (Other)</a:t>
            </a:r>
            <a:r>
              <a:rPr lang="en-US" sz="900" dirty="0">
                <a:solidFill>
                  <a:schemeClr val="bg1"/>
                </a:solidFill>
              </a:rPr>
              <a:t>, </a:t>
            </a:r>
            <a:r>
              <a:rPr lang="en-US" sz="900" b="1" dirty="0">
                <a:solidFill>
                  <a:schemeClr val="bg1"/>
                </a:solidFill>
              </a:rPr>
              <a:t>1 (Male)</a:t>
            </a:r>
            <a:r>
              <a:rPr lang="en-US" sz="900" dirty="0">
                <a:solidFill>
                  <a:schemeClr val="bg1"/>
                </a:solidFill>
              </a:rPr>
              <a:t>, and </a:t>
            </a:r>
            <a:r>
              <a:rPr lang="en-US" sz="900" b="1" dirty="0">
                <a:solidFill>
                  <a:schemeClr val="bg1"/>
                </a:solidFill>
              </a:rPr>
              <a:t>2 (Female)</a:t>
            </a:r>
            <a:r>
              <a:rPr lang="en-US" sz="900" dirty="0">
                <a:solidFill>
                  <a:schemeClr val="bg1"/>
                </a:solidFill>
              </a:rPr>
              <a:t>. </a:t>
            </a:r>
          </a:p>
          <a:p>
            <a:r>
              <a:rPr lang="en-US" sz="900" b="1" dirty="0">
                <a:solidFill>
                  <a:schemeClr val="bg1"/>
                </a:solidFill>
              </a:rPr>
              <a:t>Equal Volume</a:t>
            </a:r>
            <a:r>
              <a:rPr lang="en-US" sz="900" dirty="0">
                <a:solidFill>
                  <a:schemeClr val="bg1"/>
                </a:solidFill>
              </a:rPr>
              <a:t>: Each category contains approximately </a:t>
            </a:r>
            <a:r>
              <a:rPr lang="en-US" sz="900" b="1" dirty="0">
                <a:solidFill>
                  <a:schemeClr val="bg1"/>
                </a:solidFill>
              </a:rPr>
              <a:t>2,500</a:t>
            </a:r>
            <a:r>
              <a:rPr lang="en-US" sz="900" dirty="0">
                <a:solidFill>
                  <a:schemeClr val="bg1"/>
                </a:solidFill>
              </a:rPr>
              <a:t> individuals, totaling 7,500 participants. </a:t>
            </a:r>
          </a:p>
          <a:p>
            <a:r>
              <a:rPr lang="en-US" sz="900" b="1" dirty="0">
                <a:solidFill>
                  <a:schemeClr val="bg1"/>
                </a:solidFill>
              </a:rPr>
              <a:t>Bias Mitigation</a:t>
            </a:r>
            <a:r>
              <a:rPr lang="en-US" sz="900" dirty="0">
                <a:solidFill>
                  <a:schemeClr val="bg1"/>
                </a:solidFill>
              </a:rPr>
              <a:t>: This near-equal distribution is a key strength, as it minimizes gender bias and ensures the addiction analysis is fair and applicable across different identities. </a:t>
            </a:r>
          </a:p>
        </p:txBody>
      </p:sp>
      <p:pic>
        <p:nvPicPr>
          <p:cNvPr id="7" name="Picture 6">
            <a:extLst>
              <a:ext uri="{FF2B5EF4-FFF2-40B4-BE49-F238E27FC236}">
                <a16:creationId xmlns:a16="http://schemas.microsoft.com/office/drawing/2014/main" id="{F2E028D3-D402-041D-CED9-353C176B686E}"/>
              </a:ext>
            </a:extLst>
          </p:cNvPr>
          <p:cNvPicPr>
            <a:picLocks noChangeAspect="1"/>
          </p:cNvPicPr>
          <p:nvPr/>
        </p:nvPicPr>
        <p:blipFill>
          <a:blip r:embed="rId3"/>
          <a:stretch>
            <a:fillRect/>
          </a:stretch>
        </p:blipFill>
        <p:spPr>
          <a:xfrm>
            <a:off x="377786" y="1324452"/>
            <a:ext cx="3044070" cy="3133248"/>
          </a:xfrm>
          <a:prstGeom prst="rect">
            <a:avLst/>
          </a:prstGeom>
        </p:spPr>
      </p:pic>
    </p:spTree>
    <p:extLst>
      <p:ext uri="{BB962C8B-B14F-4D97-AF65-F5344CB8AC3E}">
        <p14:creationId xmlns:p14="http://schemas.microsoft.com/office/powerpoint/2010/main" val="666293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E9ABD32-C3E8-B5B3-3D79-E2C988A2C55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F51DB99-9FE7-DBB4-FFD1-4D35DB706F7D}"/>
              </a:ext>
            </a:extLst>
          </p:cNvPr>
          <p:cNvSpPr/>
          <p:nvPr/>
        </p:nvSpPr>
        <p:spPr>
          <a:xfrm>
            <a:off x="0" y="0"/>
            <a:ext cx="9144000" cy="1005840"/>
          </a:xfrm>
          <a:prstGeom prst="rect">
            <a:avLst/>
          </a:prstGeom>
          <a:solidFill>
            <a:srgbClr val="0D1B2A"/>
          </a:solidFill>
          <a:ln w="12700">
            <a:solidFill>
              <a:srgbClr val="0D1B2A"/>
            </a:solidFill>
            <a:prstDash val="solid"/>
          </a:ln>
        </p:spPr>
      </p:sp>
      <p:sp>
        <p:nvSpPr>
          <p:cNvPr id="3" name="Text 1">
            <a:extLst>
              <a:ext uri="{FF2B5EF4-FFF2-40B4-BE49-F238E27FC236}">
                <a16:creationId xmlns:a16="http://schemas.microsoft.com/office/drawing/2014/main" id="{3343768B-700C-6ABE-EE24-E1B8E578F282}"/>
              </a:ext>
            </a:extLst>
          </p:cNvPr>
          <p:cNvSpPr/>
          <p:nvPr/>
        </p:nvSpPr>
        <p:spPr>
          <a:xfrm>
            <a:off x="457200" y="18288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05  Analysis</a:t>
            </a:r>
            <a:endParaRPr lang="en-US" sz="2800" dirty="0"/>
          </a:p>
        </p:txBody>
      </p:sp>
      <p:sp>
        <p:nvSpPr>
          <p:cNvPr id="4" name="Shape 2">
            <a:extLst>
              <a:ext uri="{FF2B5EF4-FFF2-40B4-BE49-F238E27FC236}">
                <a16:creationId xmlns:a16="http://schemas.microsoft.com/office/drawing/2014/main" id="{36895C46-53F9-3772-20A6-46236B8A7F95}"/>
              </a:ext>
            </a:extLst>
          </p:cNvPr>
          <p:cNvSpPr/>
          <p:nvPr/>
        </p:nvSpPr>
        <p:spPr>
          <a:xfrm>
            <a:off x="267290" y="1260157"/>
            <a:ext cx="3271836" cy="3261836"/>
          </a:xfrm>
          <a:prstGeom prst="rect">
            <a:avLst/>
          </a:prstGeom>
          <a:solidFill>
            <a:srgbClr val="0D1B2A"/>
          </a:solidFill>
          <a:ln w="12700">
            <a:solidFill>
              <a:srgbClr val="0D1B2A"/>
            </a:solidFill>
            <a:prstDash val="solid"/>
          </a:ln>
          <a:effectLst>
            <a:outerShdw blurRad="101600" dist="38100" dir="8100000" algn="bl" rotWithShape="0">
              <a:srgbClr val="000000">
                <a:alpha val="12000"/>
              </a:srgbClr>
            </a:outerShdw>
          </a:effectLst>
        </p:spPr>
      </p:sp>
      <p:sp>
        <p:nvSpPr>
          <p:cNvPr id="10" name="Shape 8">
            <a:extLst>
              <a:ext uri="{FF2B5EF4-FFF2-40B4-BE49-F238E27FC236}">
                <a16:creationId xmlns:a16="http://schemas.microsoft.com/office/drawing/2014/main" id="{6F264F1A-0857-2B27-0A06-AD365B4685B6}"/>
              </a:ext>
            </a:extLst>
          </p:cNvPr>
          <p:cNvSpPr/>
          <p:nvPr/>
        </p:nvSpPr>
        <p:spPr>
          <a:xfrm>
            <a:off x="3807619" y="1885950"/>
            <a:ext cx="4572000" cy="1921669"/>
          </a:xfrm>
          <a:prstGeom prst="rect">
            <a:avLst/>
          </a:prstGeom>
          <a:solidFill>
            <a:srgbClr val="0D1B2A"/>
          </a:solidFill>
          <a:ln w="12700">
            <a:solidFill>
              <a:srgbClr val="0D1B2A"/>
            </a:solidFill>
            <a:prstDash val="solid"/>
          </a:ln>
          <a:effectLst>
            <a:outerShdw blurRad="101600" dist="38100" dir="8100000" algn="bl" rotWithShape="0">
              <a:srgbClr val="000000">
                <a:alpha val="12000"/>
              </a:srgbClr>
            </a:outerShdw>
          </a:effectLst>
        </p:spPr>
        <p:txBody>
          <a:bodyPr/>
          <a:lstStyle/>
          <a:p>
            <a:endParaRPr lang="ar-EG" dirty="0"/>
          </a:p>
        </p:txBody>
      </p:sp>
      <p:sp>
        <p:nvSpPr>
          <p:cNvPr id="12" name="Text 10">
            <a:extLst>
              <a:ext uri="{FF2B5EF4-FFF2-40B4-BE49-F238E27FC236}">
                <a16:creationId xmlns:a16="http://schemas.microsoft.com/office/drawing/2014/main" id="{23E35400-7FD9-8448-1278-CDA2F44FB756}"/>
              </a:ext>
            </a:extLst>
          </p:cNvPr>
          <p:cNvSpPr/>
          <p:nvPr/>
        </p:nvSpPr>
        <p:spPr>
          <a:xfrm>
            <a:off x="3921919" y="2128838"/>
            <a:ext cx="4343399" cy="1450181"/>
          </a:xfrm>
          <a:prstGeom prst="rect">
            <a:avLst/>
          </a:prstGeom>
          <a:noFill/>
          <a:ln/>
        </p:spPr>
        <p:txBody>
          <a:bodyPr wrap="square" lIns="0" tIns="0" rIns="0" bIns="0" rtlCol="0" anchor="ctr"/>
          <a:lstStyle/>
          <a:p>
            <a:r>
              <a:rPr lang="en-US" sz="900" dirty="0">
                <a:solidFill>
                  <a:schemeClr val="bg1"/>
                </a:solidFill>
              </a:rPr>
              <a:t>The count plot demonstrates the distribution of stress levels within the study:</a:t>
            </a:r>
          </a:p>
          <a:p>
            <a:r>
              <a:rPr lang="en-US" sz="900" b="1" dirty="0">
                <a:solidFill>
                  <a:schemeClr val="bg1"/>
                </a:solidFill>
              </a:rPr>
              <a:t>Equal Distribution</a:t>
            </a:r>
            <a:r>
              <a:rPr lang="en-US" sz="900" dirty="0">
                <a:solidFill>
                  <a:schemeClr val="bg1"/>
                </a:solidFill>
              </a:rPr>
              <a:t>: The </a:t>
            </a:r>
            <a:r>
              <a:rPr lang="en-US" sz="900" b="1" dirty="0">
                <a:solidFill>
                  <a:schemeClr val="bg1"/>
                </a:solidFill>
              </a:rPr>
              <a:t>7,500</a:t>
            </a:r>
            <a:r>
              <a:rPr lang="en-US" sz="900" dirty="0">
                <a:solidFill>
                  <a:schemeClr val="bg1"/>
                </a:solidFill>
              </a:rPr>
              <a:t> participants are evenly split among </a:t>
            </a:r>
            <a:r>
              <a:rPr lang="en-US" sz="900" b="1" dirty="0">
                <a:solidFill>
                  <a:schemeClr val="bg1"/>
                </a:solidFill>
              </a:rPr>
              <a:t>Low</a:t>
            </a:r>
            <a:r>
              <a:rPr lang="en-US" sz="900" dirty="0">
                <a:solidFill>
                  <a:schemeClr val="bg1"/>
                </a:solidFill>
              </a:rPr>
              <a:t>, </a:t>
            </a:r>
            <a:r>
              <a:rPr lang="en-US" sz="900" b="1" dirty="0">
                <a:solidFill>
                  <a:schemeClr val="bg1"/>
                </a:solidFill>
              </a:rPr>
              <a:t>Medium</a:t>
            </a:r>
            <a:r>
              <a:rPr lang="en-US" sz="900" dirty="0">
                <a:solidFill>
                  <a:schemeClr val="bg1"/>
                </a:solidFill>
              </a:rPr>
              <a:t>, and </a:t>
            </a:r>
            <a:r>
              <a:rPr lang="en-US" sz="900" b="1" dirty="0">
                <a:solidFill>
                  <a:schemeClr val="bg1"/>
                </a:solidFill>
              </a:rPr>
              <a:t>High</a:t>
            </a:r>
            <a:r>
              <a:rPr lang="en-US" sz="900" dirty="0">
                <a:solidFill>
                  <a:schemeClr val="bg1"/>
                </a:solidFill>
              </a:rPr>
              <a:t> stress categories.</a:t>
            </a:r>
          </a:p>
          <a:p>
            <a:r>
              <a:rPr lang="en-US" sz="900" b="1" dirty="0">
                <a:solidFill>
                  <a:schemeClr val="bg1"/>
                </a:solidFill>
              </a:rPr>
              <a:t>Balanced Data</a:t>
            </a:r>
            <a:r>
              <a:rPr lang="en-US" sz="900" dirty="0">
                <a:solidFill>
                  <a:schemeClr val="bg1"/>
                </a:solidFill>
              </a:rPr>
              <a:t>: Each category contains approximately </a:t>
            </a:r>
            <a:r>
              <a:rPr lang="en-US" sz="900" b="1" dirty="0">
                <a:solidFill>
                  <a:schemeClr val="bg1"/>
                </a:solidFill>
              </a:rPr>
              <a:t>2,500</a:t>
            </a:r>
            <a:r>
              <a:rPr lang="en-US" sz="900" dirty="0">
                <a:solidFill>
                  <a:schemeClr val="bg1"/>
                </a:solidFill>
              </a:rPr>
              <a:t> individuals.</a:t>
            </a:r>
          </a:p>
          <a:p>
            <a:r>
              <a:rPr lang="en-US" sz="900" b="1" dirty="0">
                <a:solidFill>
                  <a:schemeClr val="bg1"/>
                </a:solidFill>
              </a:rPr>
              <a:t>Unbiased Analysis</a:t>
            </a:r>
            <a:r>
              <a:rPr lang="en-US" sz="900" dirty="0">
                <a:solidFill>
                  <a:schemeClr val="bg1"/>
                </a:solidFill>
              </a:rPr>
              <a:t>: This perfect balance ensures a fair evaluation of how different psychological stress levels correlate with addiction behaviors, preventing any single group from skewing the results.</a:t>
            </a:r>
          </a:p>
        </p:txBody>
      </p:sp>
      <p:pic>
        <p:nvPicPr>
          <p:cNvPr id="6" name="Picture 5">
            <a:extLst>
              <a:ext uri="{FF2B5EF4-FFF2-40B4-BE49-F238E27FC236}">
                <a16:creationId xmlns:a16="http://schemas.microsoft.com/office/drawing/2014/main" id="{F4AD1674-4E41-3DF7-7519-9E8427A31CAD}"/>
              </a:ext>
            </a:extLst>
          </p:cNvPr>
          <p:cNvPicPr>
            <a:picLocks noChangeAspect="1"/>
          </p:cNvPicPr>
          <p:nvPr/>
        </p:nvPicPr>
        <p:blipFill>
          <a:blip r:embed="rId3"/>
          <a:stretch>
            <a:fillRect/>
          </a:stretch>
        </p:blipFill>
        <p:spPr>
          <a:xfrm>
            <a:off x="364708" y="1382314"/>
            <a:ext cx="3076999" cy="3032523"/>
          </a:xfrm>
          <a:prstGeom prst="rect">
            <a:avLst/>
          </a:prstGeom>
        </p:spPr>
      </p:pic>
    </p:spTree>
    <p:extLst>
      <p:ext uri="{BB962C8B-B14F-4D97-AF65-F5344CB8AC3E}">
        <p14:creationId xmlns:p14="http://schemas.microsoft.com/office/powerpoint/2010/main" val="43098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1B998B"/>
          </a:solidFill>
          <a:ln w="12700">
            <a:solidFill>
              <a:srgbClr val="1B998B"/>
            </a:solidFill>
            <a:prstDash val="solid"/>
          </a:ln>
        </p:spPr>
      </p:sp>
      <p:sp>
        <p:nvSpPr>
          <p:cNvPr id="3" name="Text 1"/>
          <p:cNvSpPr/>
          <p:nvPr/>
        </p:nvSpPr>
        <p:spPr>
          <a:xfrm>
            <a:off x="731520" y="22860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06  Conclusion</a:t>
            </a:r>
            <a:endParaRPr lang="en-US" sz="2800" dirty="0"/>
          </a:p>
        </p:txBody>
      </p:sp>
      <p:sp>
        <p:nvSpPr>
          <p:cNvPr id="4" name="Shape 2"/>
          <p:cNvSpPr/>
          <p:nvPr/>
        </p:nvSpPr>
        <p:spPr>
          <a:xfrm>
            <a:off x="731520" y="960120"/>
            <a:ext cx="7955280" cy="640080"/>
          </a:xfrm>
          <a:prstGeom prst="rect">
            <a:avLst/>
          </a:prstGeom>
          <a:solidFill>
            <a:srgbClr val="132233"/>
          </a:solidFill>
          <a:ln w="12700">
            <a:solidFill>
              <a:srgbClr val="1B998B"/>
            </a:solidFill>
            <a:prstDash val="solid"/>
          </a:ln>
        </p:spPr>
      </p:sp>
      <p:sp>
        <p:nvSpPr>
          <p:cNvPr id="5" name="Text 3"/>
          <p:cNvSpPr/>
          <p:nvPr/>
        </p:nvSpPr>
        <p:spPr>
          <a:xfrm>
            <a:off x="914400" y="960120"/>
            <a:ext cx="7589520" cy="640080"/>
          </a:xfrm>
          <a:prstGeom prst="rect">
            <a:avLst/>
          </a:prstGeom>
          <a:noFill/>
          <a:ln/>
        </p:spPr>
        <p:txBody>
          <a:bodyPr wrap="square" lIns="0" tIns="0" rIns="0" bIns="0" rtlCol="0" anchor="ctr"/>
          <a:lstStyle/>
          <a:p>
            <a:pPr marL="0" indent="0">
              <a:buNone/>
            </a:pPr>
            <a:r>
              <a:rPr lang="en-US" sz="1300" dirty="0">
                <a:solidFill>
                  <a:srgbClr val="FFD166"/>
                </a:solidFill>
                <a:latin typeface="Calibri" pitchFamily="34" charset="0"/>
                <a:ea typeface="Calibri" pitchFamily="34" charset="-122"/>
                <a:cs typeface="Calibri" pitchFamily="34" charset="-120"/>
              </a:rPr>
              <a:t>📱  Screen time is the ONLY significant factor linked to addiction (t=61.19, p&lt;0.05)</a:t>
            </a:r>
            <a:endParaRPr lang="en-US" sz="1300" dirty="0"/>
          </a:p>
        </p:txBody>
      </p:sp>
      <p:sp>
        <p:nvSpPr>
          <p:cNvPr id="6" name="Shape 4"/>
          <p:cNvSpPr/>
          <p:nvPr/>
        </p:nvSpPr>
        <p:spPr>
          <a:xfrm>
            <a:off x="731520" y="1737360"/>
            <a:ext cx="7955280" cy="640080"/>
          </a:xfrm>
          <a:prstGeom prst="rect">
            <a:avLst/>
          </a:prstGeom>
          <a:solidFill>
            <a:srgbClr val="132233"/>
          </a:solidFill>
          <a:ln w="12700">
            <a:solidFill>
              <a:srgbClr val="1E3A4A"/>
            </a:solidFill>
            <a:prstDash val="solid"/>
          </a:ln>
        </p:spPr>
      </p:sp>
      <p:sp>
        <p:nvSpPr>
          <p:cNvPr id="7" name="Text 5"/>
          <p:cNvSpPr/>
          <p:nvPr/>
        </p:nvSpPr>
        <p:spPr>
          <a:xfrm>
            <a:off x="914400" y="1737360"/>
            <a:ext cx="7589520" cy="64008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No significant linear relationship found between screen time and sleep hours</a:t>
            </a:r>
            <a:endParaRPr lang="en-US" sz="1300" dirty="0"/>
          </a:p>
        </p:txBody>
      </p:sp>
      <p:sp>
        <p:nvSpPr>
          <p:cNvPr id="8" name="Shape 6"/>
          <p:cNvSpPr/>
          <p:nvPr/>
        </p:nvSpPr>
        <p:spPr>
          <a:xfrm>
            <a:off x="731520" y="2514600"/>
            <a:ext cx="7955280" cy="640080"/>
          </a:xfrm>
          <a:prstGeom prst="rect">
            <a:avLst/>
          </a:prstGeom>
          <a:solidFill>
            <a:srgbClr val="132233"/>
          </a:solidFill>
          <a:ln w="12700">
            <a:solidFill>
              <a:srgbClr val="1E3A4A"/>
            </a:solidFill>
            <a:prstDash val="solid"/>
          </a:ln>
        </p:spPr>
        <p:txBody>
          <a:bodyPr/>
          <a:lstStyle/>
          <a:p>
            <a:endParaRPr lang="ar-EG" dirty="0"/>
          </a:p>
        </p:txBody>
      </p:sp>
      <p:sp>
        <p:nvSpPr>
          <p:cNvPr id="9" name="Text 7"/>
          <p:cNvSpPr/>
          <p:nvPr/>
        </p:nvSpPr>
        <p:spPr>
          <a:xfrm>
            <a:off x="914400" y="2514600"/>
            <a:ext cx="7589520" cy="64008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Gender shows no significant association with addiction status</a:t>
            </a:r>
            <a:endParaRPr lang="en-US" sz="1300" dirty="0"/>
          </a:p>
        </p:txBody>
      </p:sp>
      <p:sp>
        <p:nvSpPr>
          <p:cNvPr id="10" name="Shape 8"/>
          <p:cNvSpPr/>
          <p:nvPr/>
        </p:nvSpPr>
        <p:spPr>
          <a:xfrm>
            <a:off x="731520" y="3292615"/>
            <a:ext cx="7955280" cy="640080"/>
          </a:xfrm>
          <a:prstGeom prst="rect">
            <a:avLst/>
          </a:prstGeom>
          <a:solidFill>
            <a:srgbClr val="132233"/>
          </a:solidFill>
          <a:ln w="12700">
            <a:solidFill>
              <a:srgbClr val="1E3A4A"/>
            </a:solidFill>
            <a:prstDash val="solid"/>
          </a:ln>
        </p:spPr>
        <p:txBody>
          <a:bodyPr/>
          <a:lstStyle/>
          <a:p>
            <a:endParaRPr lang="ar-EG" dirty="0"/>
          </a:p>
        </p:txBody>
      </p:sp>
      <p:sp>
        <p:nvSpPr>
          <p:cNvPr id="11" name="Text 9"/>
          <p:cNvSpPr/>
          <p:nvPr/>
        </p:nvSpPr>
        <p:spPr>
          <a:xfrm>
            <a:off x="914400" y="3291840"/>
            <a:ext cx="7589520" cy="64008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  Stress level shows no significant association with addiction status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1B998B"/>
        </a:solidFill>
        <a:effectLst/>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0D1B2A"/>
          </a:solidFill>
          <a:ln w="12700">
            <a:solidFill>
              <a:srgbClr val="0D1B2A"/>
            </a:solidFill>
            <a:prstDash val="solid"/>
          </a:ln>
        </p:spPr>
      </p:sp>
      <p:sp>
        <p:nvSpPr>
          <p:cNvPr id="3" name="Text 1"/>
          <p:cNvSpPr/>
          <p:nvPr/>
        </p:nvSpPr>
        <p:spPr>
          <a:xfrm>
            <a:off x="457200" y="731520"/>
            <a:ext cx="8229600" cy="1371600"/>
          </a:xfrm>
          <a:prstGeom prst="rect">
            <a:avLst/>
          </a:prstGeom>
          <a:noFill/>
          <a:ln/>
        </p:spPr>
        <p:txBody>
          <a:bodyPr wrap="square"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4" name="Text 2"/>
          <p:cNvSpPr/>
          <p:nvPr/>
        </p:nvSpPr>
        <p:spPr>
          <a:xfrm>
            <a:off x="457200" y="2103120"/>
            <a:ext cx="8229600" cy="548640"/>
          </a:xfrm>
          <a:prstGeom prst="rect">
            <a:avLst/>
          </a:prstGeom>
          <a:noFill/>
          <a:ln/>
        </p:spPr>
        <p:txBody>
          <a:bodyPr wrap="square" lIns="0" tIns="0" rIns="0" bIns="0" rtlCol="0" anchor="ctr"/>
          <a:lstStyle/>
          <a:p>
            <a:pPr marL="0" indent="0" algn="ctr">
              <a:buNone/>
            </a:pPr>
            <a:r>
              <a:rPr lang="en-US" sz="2000" dirty="0">
                <a:solidFill>
                  <a:srgbClr val="0D1B2A"/>
                </a:solidFill>
                <a:latin typeface="Calibri" pitchFamily="34" charset="0"/>
                <a:ea typeface="Calibri" pitchFamily="34" charset="-122"/>
                <a:cs typeface="Calibri" pitchFamily="34" charset="-120"/>
              </a:rPr>
              <a:t>Questions &amp; Discussion</a:t>
            </a:r>
            <a:endParaRPr lang="en-US" sz="2000" dirty="0"/>
          </a:p>
        </p:txBody>
      </p:sp>
      <p:sp>
        <p:nvSpPr>
          <p:cNvPr id="5" name="Text 3"/>
          <p:cNvSpPr/>
          <p:nvPr/>
        </p:nvSpPr>
        <p:spPr>
          <a:xfrm>
            <a:off x="457200" y="4389120"/>
            <a:ext cx="8229600" cy="365760"/>
          </a:xfrm>
          <a:prstGeom prst="rect">
            <a:avLst/>
          </a:prstGeom>
          <a:noFill/>
          <a:ln/>
        </p:spPr>
        <p:txBody>
          <a:bodyPr wrap="square" lIns="0" tIns="0" rIns="0" bIns="0" rtlCol="0" anchor="ctr"/>
          <a:lstStyle/>
          <a:p>
            <a:pPr marL="0" indent="0" algn="ctr">
              <a:buNone/>
            </a:pPr>
            <a:r>
              <a:rPr lang="en-US" sz="1200" dirty="0">
                <a:solidFill>
                  <a:srgbClr val="C8EFE9"/>
                </a:solidFill>
                <a:latin typeface="Calibri" pitchFamily="34" charset="0"/>
                <a:ea typeface="Calibri" pitchFamily="34" charset="-122"/>
                <a:cs typeface="Calibri" pitchFamily="34" charset="-120"/>
              </a:rPr>
              <a:t>C-DE211: Data Analysis  •  Egypt University of Informatics  •  May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889</Words>
  <Application>Microsoft Office PowerPoint</Application>
  <PresentationFormat>On-screen Show (16:9)</PresentationFormat>
  <Paragraphs>144</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Smartphone Usage &amp; Addiction Analysis</dc:title>
  <dc:subject>PptxGenJS Presentation</dc:subject>
  <dc:creator>PptxGenJS</dc:creator>
  <cp:lastModifiedBy>Ahmed Elnazer</cp:lastModifiedBy>
  <cp:revision>4</cp:revision>
  <dcterms:created xsi:type="dcterms:W3CDTF">2026-05-04T18:57:35Z</dcterms:created>
  <dcterms:modified xsi:type="dcterms:W3CDTF">2026-05-05T20:40:49Z</dcterms:modified>
</cp:coreProperties>
</file>